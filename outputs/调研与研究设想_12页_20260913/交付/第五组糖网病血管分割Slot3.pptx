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955334ff24f59" /><Relationship Type="http://schemas.openxmlformats.org/officeDocument/2006/relationships/extended-properties" Target="/docProps/app.xml" Id="R5a7560279675490e" /><Relationship Type="http://schemas.openxmlformats.org/officeDocument/2006/relationships/officeDocument" Target="/ppt/presentation.xml" Id="R56d8b4ac0922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3c1ac093e48cd"/>
  </p:sldMasterIdLst>
  <p:notesMasterIdLst>
    <p:notesMasterId xmlns:r="http://schemas.openxmlformats.org/officeDocument/2006/relationships" r:id="R680d92d0f8644ae5"/>
  </p:notesMasterIdLst>
  <p:sldIdLst>
    <p:sldId xmlns:r="http://schemas.openxmlformats.org/officeDocument/2006/relationships" id="256" r:id="Re5670747105a40d9"/>
    <p:sldId xmlns:r="http://schemas.openxmlformats.org/officeDocument/2006/relationships" id="257" r:id="R6a3373672b824b1b"/>
    <p:sldId xmlns:r="http://schemas.openxmlformats.org/officeDocument/2006/relationships" id="258" r:id="R447d9ad051d84faf"/>
    <p:sldId xmlns:r="http://schemas.openxmlformats.org/officeDocument/2006/relationships" id="259" r:id="R7c7d2248e1ea47ba"/>
    <p:sldId xmlns:r="http://schemas.openxmlformats.org/officeDocument/2006/relationships" id="260" r:id="R1e2a82d9706f4851"/>
    <p:sldId xmlns:r="http://schemas.openxmlformats.org/officeDocument/2006/relationships" id="261" r:id="R8fd9a4d9b91545f6"/>
    <p:sldId xmlns:r="http://schemas.openxmlformats.org/officeDocument/2006/relationships" id="262" r:id="R83c9a2e125e84e59"/>
    <p:sldId xmlns:r="http://schemas.openxmlformats.org/officeDocument/2006/relationships" id="263" r:id="R3d58caad5e0d421e"/>
    <p:sldId xmlns:r="http://schemas.openxmlformats.org/officeDocument/2006/relationships" id="264" r:id="Rcedaf418f5b449b5"/>
    <p:sldId xmlns:r="http://schemas.openxmlformats.org/officeDocument/2006/relationships" id="265" r:id="Rc4f6ef317f1b465d"/>
    <p:sldId xmlns:r="http://schemas.openxmlformats.org/officeDocument/2006/relationships" id="266" r:id="R0095637650d24858"/>
    <p:sldId xmlns:r="http://schemas.openxmlformats.org/officeDocument/2006/relationships" id="267" r:id="Rf2e39c7ad6a447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62042af874a9c" /><Relationship Type="http://schemas.openxmlformats.org/officeDocument/2006/relationships/slideMaster" Target="/ppt/slideMasters/slideMaster1.xml" Id="R8c83c1ac093e48cd" /><Relationship Type="http://schemas.openxmlformats.org/officeDocument/2006/relationships/notesMaster" Target="/ppt/notesMasters/notesMaster1.xml" Id="R680d92d0f8644ae5" /><Relationship Type="http://schemas.openxmlformats.org/officeDocument/2006/relationships/presProps" Target="/ppt/presProps.xml" Id="R80a574c4559c4f37" /><Relationship Type="http://schemas.openxmlformats.org/officeDocument/2006/relationships/tableStyles" Target="/ppt/tableStyles.xml" Id="R8c971e7ae92f4c15" /><Relationship Type="http://schemas.openxmlformats.org/officeDocument/2006/relationships/slide" Target="/ppt/slides/slide1.xml" Id="Re5670747105a40d9" /><Relationship Type="http://schemas.openxmlformats.org/officeDocument/2006/relationships/slide" Target="/ppt/slides/slide2.xml" Id="R6a3373672b824b1b" /><Relationship Type="http://schemas.openxmlformats.org/officeDocument/2006/relationships/slide" Target="/ppt/slides/slide3.xml" Id="R447d9ad051d84faf" /><Relationship Type="http://schemas.openxmlformats.org/officeDocument/2006/relationships/slide" Target="/ppt/slides/slide4.xml" Id="R7c7d2248e1ea47ba" /><Relationship Type="http://schemas.openxmlformats.org/officeDocument/2006/relationships/slide" Target="/ppt/slides/slide5.xml" Id="R1e2a82d9706f4851" /><Relationship Type="http://schemas.openxmlformats.org/officeDocument/2006/relationships/slide" Target="/ppt/slides/slide6.xml" Id="R8fd9a4d9b91545f6" /><Relationship Type="http://schemas.openxmlformats.org/officeDocument/2006/relationships/slide" Target="/ppt/slides/slide7.xml" Id="R83c9a2e125e84e59" /><Relationship Type="http://schemas.openxmlformats.org/officeDocument/2006/relationships/slide" Target="/ppt/slides/slide8.xml" Id="R3d58caad5e0d421e" /><Relationship Type="http://schemas.openxmlformats.org/officeDocument/2006/relationships/slide" Target="/ppt/slides/slide9.xml" Id="Rcedaf418f5b449b5" /><Relationship Type="http://schemas.openxmlformats.org/officeDocument/2006/relationships/slide" Target="/ppt/slides/slide10.xml" Id="Rc4f6ef317f1b465d" /><Relationship Type="http://schemas.openxmlformats.org/officeDocument/2006/relationships/slide" Target="/ppt/slides/slide11.xml" Id="R0095637650d24858" /><Relationship Type="http://schemas.openxmlformats.org/officeDocument/2006/relationships/slide" Target="/ppt/slides/slide12.xml" Id="Rf2e39c7ad6a4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d6f6eaa2d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b17c60b5d45dc" /><Relationship Type="http://schemas.openxmlformats.org/officeDocument/2006/relationships/notesMaster" Target="/ppt/notesMasters/notesMaster1.xml" Id="Re0fe1b82e1444d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fbbaa19a14cfd" /><Relationship Type="http://schemas.openxmlformats.org/officeDocument/2006/relationships/notesMaster" Target="/ppt/notesMasters/notesMaster1.xml" Id="R7421abc97306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49a9a11ab0469f" /><Relationship Type="http://schemas.openxmlformats.org/officeDocument/2006/relationships/notesMaster" Target="/ppt/notesMasters/notesMaster1.xml" Id="Ra69004d7ac49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45c6f7d7994588" /><Relationship Type="http://schemas.openxmlformats.org/officeDocument/2006/relationships/notesMaster" Target="/ppt/notesMasters/notesMaster1.xml" Id="Rd56607cc6fb0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ef47fb03cd4592" /><Relationship Type="http://schemas.openxmlformats.org/officeDocument/2006/relationships/notesMaster" Target="/ppt/notesMasters/notesMaster1.xml" Id="Re2f188de351f46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36f9d2d9994e84" /><Relationship Type="http://schemas.openxmlformats.org/officeDocument/2006/relationships/notesMaster" Target="/ppt/notesMasters/notesMaster1.xml" Id="R20cefdc4f32c44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02f2dc08b4d6c" /><Relationship Type="http://schemas.openxmlformats.org/officeDocument/2006/relationships/notesMaster" Target="/ppt/notesMasters/notesMaster1.xml" Id="Re57140440e5e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e5805882834b46" /><Relationship Type="http://schemas.openxmlformats.org/officeDocument/2006/relationships/notesMaster" Target="/ppt/notesMasters/notesMaster1.xml" Id="R3978c8c1a64a45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6435165f564536" /><Relationship Type="http://schemas.openxmlformats.org/officeDocument/2006/relationships/notesMaster" Target="/ppt/notesMasters/notesMaster1.xml" Id="R37977ae746d24c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bf38e78c164317" /><Relationship Type="http://schemas.openxmlformats.org/officeDocument/2006/relationships/notesMaster" Target="/ppt/notesMasters/notesMaster1.xml" Id="Rba18d354941041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9dad4e823746ca" /><Relationship Type="http://schemas.openxmlformats.org/officeDocument/2006/relationships/notesMaster" Target="/ppt/notesMasters/notesMaster1.xml" Id="R883f33f41be64e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b97a202feb4a5a" /><Relationship Type="http://schemas.openxmlformats.org/officeDocument/2006/relationships/notesMaster" Target="/ppt/notesMasters/notesMaster1.xml" Id="Rcbd8db754ea4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这次汇报主要介绍选题依据。我们先了解眼底血管分割的已有研究，再用基础模型做了初步尝试。模型结果让我们注意到糖网病组的细血管漏检，接下来会说明文献给了我们什么启发，以及准备怎样进一步研究。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糖尿病患者的眼底检查，需要医生观察视网膜病变。即使视力暂时没有明显变化，也可能存在眼底问题。我们关注的是图像分析环节：先把血管提取准确，再用于密度等形态测量。模型可以作为量化研究的一步，但目前不能替代医生判断，也没有证明能改善诊断或治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Jin K, et al. FIVES: A Fundus Image Dataset for Artificial Intelligence based Vessel Segmentation. Scientific Data, 2022, 9:475.</a:t>
            </a:r>
          </a:p>
          <a:p xmlns:a="http://schemas.openxmlformats.org/drawingml/2006/main">
            <a:r>
              <a:t>https://doi.org/10.1038/s41597-022-01564-3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Zhou Y, et al. AutoMorph: Automated Retinal Vascular Morphology Quantification Via a Deep Learning Pipeline. TVST, 2022, 11(7):12.</a:t>
            </a:r>
          </a:p>
          <a:p xmlns:a="http://schemas.openxmlformats.org/drawingml/2006/main">
            <a:r>
              <a:t>https://doi.org/10.1167/tvst.11.7.12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Diabetes Association. Retinopathy, Neuropathy, and Foot Care: Standards of Care in Diabetes—2026. Diabetes Care, 2026.</a:t>
            </a:r>
          </a:p>
          <a:p xmlns:a="http://schemas.openxmlformats.org/drawingml/2006/main">
            <a:r>
              <a:t>https://doi.org/10.2337/dc26-s012</a:t>
            </a:r>
          </a:p>
          <a:p xmlns:a="http://schemas.openxmlformats.org/drawingml/2006/main">
            <a:r>
              <a:t>临床场景补充来源：https://www.niddk.nih.gov/health-information/diabetes/overview/preventing-problems/diabetic-eye-disease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方法主要根据血管的灰度和形状设计规则，例如1989年的匹配滤波。深度学习让模型从人工标注中学习血管特征。之后，多尺度方法和细结构监督进一步关注细分支及连接。同时，另一条研究线开始检查分割是否能支持准确测量，以及换疾病或图像质量后表现如何。这些是相互补充的方向，不是严格分代。我们选择基础的 U-Net，先检查糖网病图像中的细血管是否找得准。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Fadugba J, et al. Benchmarking Retinal Blood Vessel Segmentation Models for Cross-Dataset and Cross-Disease Generalization. arXiv, 2024.</a:t>
            </a:r>
          </a:p>
          <a:p xmlns:a="http://schemas.openxmlformats.org/drawingml/2006/main">
            <a:r>
              <a:t>https://arxiv.org/abs/2406.14994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Kirchhoff Y, et al. Skeleton Recall Loss for Connectivity Conserving and Resource Efficient Segmentation of Thin Tubular Structures. ECCV, 2024.</a:t>
            </a:r>
          </a:p>
          <a:p xmlns:a="http://schemas.openxmlformats.org/drawingml/2006/main">
            <a:r>
              <a:t>https://arxiv.org/abs/2404.03010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Jiang Y, et al. Retinal Vessels Segmentation Based on Dilated Multi-Scale Convolutional Neural Network. arXiv, 2019.</a:t>
            </a:r>
          </a:p>
          <a:p xmlns:a="http://schemas.openxmlformats.org/drawingml/2006/main">
            <a:r>
              <a:t>https://arxiv.org/abs/1904.05644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Zhou Y, et al. AutoMorph: Automated Retinal Vascular Morphology Quantification Via a Deep Learning Pipeline. TVST, 2022, 11(7):12.</a:t>
            </a:r>
          </a:p>
          <a:p xmlns:a="http://schemas.openxmlformats.org/drawingml/2006/main">
            <a:r>
              <a:t>https://doi.org/10.1167/tvst.11.7.12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Chaudhuri S, et al. Detection of blood vessels in retinal images using two-dimensional matched filters. IEEE TMI, 1989, 8(3):263–269.</a:t>
            </a:r>
          </a:p>
          <a:p xmlns:a="http://schemas.openxmlformats.org/drawingml/2006/main">
            <a:r>
              <a:t>https://doi.org/10.1109/42.34715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已经完成基础模型M0的训练和开发集评价。使用FIVES，训练470张，开发118张，另有12张暂缓使用，官方测试集没有参与本次分析。模型采用U-Net和BCE加Dice损失，训练一万步。右图是人工血管标注，用来说明模型学习和评价的目标。这部分用于帮助提出问题，不作为最终方法有效性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Jin K, et al. FIVES: A Fundus Image Dataset for Artificial Intelligence based Vessel Segmentation. Scientific Data, 2022, 9:475.</a:t>
            </a:r>
          </a:p>
          <a:p xmlns:a="http://schemas.openxmlformats.org/drawingml/2006/main">
            <a:r>
              <a:t>https://doi.org/10.1038/s41597-022-01564-3</a:t>
            </a:r>
          </a:p>
          <a:p xmlns:a="http://schemas.openxmlformats.org/drawingml/2006/main">
            <a:r>
              <a:t>FIVES官方规模800张、训练/测试600/200；本地开发从官方训练侧划出。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图像中，糖网病组细血管召回是68.45%，正常组是82.75%。按图像质量重新分组后，在质量标签良好的图像中，糖网病组为72.74%，正常组为83.10%，仍低10.36个百分点。这让我们决定继续调查细血管漏检。质量标签只描述图像表现，疾病也可能影响质量，所以这里不能直接归因于病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quality_quickcheck_20260913/追加验证报告.md。d1：参考细骨架半径≤4原图像素，允许到预测血管1像素距离，图像宏平均。质量良好D−N图像级bootstrap95%描述性区间[-16.46,-4.58]个百分点；低质量正常图仅1张。非独立验证，非物理血管直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围绕三个方向继续查文献：疾病和质量、细血管遗漏，以及病灶和血管之间的关系。本轮核对了arXiv和期刊页面，以摘要和任务说明为主，不把这些都称为全文精读，也不虚构系统筛选的篇数。特别要区分输出血管的研究和输出病灶的研究，它们可以提供启发，但回答的问题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Fadugba J, et al. Benchmarking Retinal Blood Vessel Segmentation Models for Cross-Dataset and Cross-Disease Generalization. arXiv, 2024.</a:t>
            </a:r>
          </a:p>
          <a:p xmlns:a="http://schemas.openxmlformats.org/drawingml/2006/main">
            <a:r>
              <a:t>https://arxiv.org/abs/2406.14994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Kirchhoff Y, et al. Skeleton Recall Loss for Connectivity Conserving and Resource Efficient Segmentation of Thin Tubular Structures. ECCV, 2024.</a:t>
            </a:r>
          </a:p>
          <a:p xmlns:a="http://schemas.openxmlformats.org/drawingml/2006/main">
            <a:r>
              <a:t>https://arxiv.org/abs/2404.03010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Jiang Y, et al. Retinal Vessels Segmentation Based on Dilated Multi-Scale Convolutional Neural Network. arXiv, 2019.</a:t>
            </a:r>
          </a:p>
          <a:p xmlns:a="http://schemas.openxmlformats.org/drawingml/2006/main">
            <a:r>
              <a:t>https://arxiv.org/abs/1904.05644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Huang S, et al. RTNet: Relation Transformer Network for Diabetic Retinopathy Multi-lesion Segmentation. IEEE TMI, 2022.</a:t>
            </a:r>
          </a:p>
          <a:p xmlns:a="http://schemas.openxmlformats.org/drawingml/2006/main">
            <a:r>
              <a:t>https://arxiv.org/abs/2201.11037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Lepetit-Aimon G, et al. MAPLES-DR: MESSIDOR Anatomical and Pathological Labels for Explainable Screening of Diabetic Retinopathy. Scientific Data, 2024, 11:914.</a:t>
            </a:r>
          </a:p>
          <a:p xmlns:a="http://schemas.openxmlformats.org/drawingml/2006/main">
            <a:r>
              <a:t>https://doi.org/10.1038/s41597-024-03739-6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一页讲的是发展脉络，这里看每条方向留下的问题。多尺度和细结构监督关注血管本身；跨疾病研究提醒我们检查图像质量；血管辅助病灶分割则提供了利用二者关系的启发。但这些都不能代替我们对病灶附近血管遗漏的直接验证。配对标注和形态量化方法，让我们能够同时看遗漏发生在哪里，以及是否影响密度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Fadugba J, et al. Benchmarking Retinal Blood Vessel Segmentation Models for Cross-Dataset and Cross-Disease Generalization. arXiv, 2024.</a:t>
            </a:r>
          </a:p>
          <a:p xmlns:a="http://schemas.openxmlformats.org/drawingml/2006/main">
            <a:r>
              <a:t>https://arxiv.org/abs/2406.14994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Kirchhoff Y, et al. Skeleton Recall Loss for Connectivity Conserving and Resource Efficient Segmentation of Thin Tubular Structures. ECCV, 2024.</a:t>
            </a:r>
          </a:p>
          <a:p xmlns:a="http://schemas.openxmlformats.org/drawingml/2006/main">
            <a:r>
              <a:t>https://arxiv.org/abs/2404.03010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Jiang Y, et al. Retinal Vessels Segmentation Based on Dilated Multi-Scale Convolutional Neural Network. arXiv, 2019.</a:t>
            </a:r>
          </a:p>
          <a:p xmlns:a="http://schemas.openxmlformats.org/drawingml/2006/main">
            <a:r>
              <a:t>https://arxiv.org/abs/1904.05644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Huang S, et al. RTNet: Relation Transformer Network for Diabetic Retinopathy Multi-lesion Segmentation. IEEE TMI, 2022.</a:t>
            </a:r>
          </a:p>
          <a:p xmlns:a="http://schemas.openxmlformats.org/drawingml/2006/main">
            <a:r>
              <a:t>https://arxiv.org/abs/2201.11037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Lepetit-Aimon G, et al. MAPLES-DR: MESSIDOR Anatomical and Pathological Labels for Explainable Screening of Diabetic Retinopathy. Scientific Data, 2024, 11:914.</a:t>
            </a:r>
          </a:p>
          <a:p xmlns:a="http://schemas.openxmlformats.org/drawingml/2006/main">
            <a:r>
              <a:t>https://doi.org/10.1038/s41597-024-03739-6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Zhou Y, et al. AutoMorph: Automated Retinal Vascular Morphology Quantification Via a Deep Learning Pipeline. TVST, 2022, 11(7):12.</a:t>
            </a:r>
          </a:p>
          <a:p xmlns:a="http://schemas.openxmlformats.org/drawingml/2006/main">
            <a:r>
              <a:t>https://doi.org/10.1167/tvst.11.7.12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结果目前只告诉我们疾病分组有差异，还没有定位到病灶附近。下一步要把问题从哪个组差，推进到哪里容易出错。这里是待验证的问题，不声称前人从未研究过，也不把糖网病组表现较差直接解释成病灶的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Jiang Y, et al. Retinal Vessels Segmentation Based on Dilated Multi-Scale Convolutional Neural Network. arXiv, 2019.</a:t>
            </a:r>
          </a:p>
          <a:p xmlns:a="http://schemas.openxmlformats.org/drawingml/2006/main">
            <a:r>
              <a:t>https://arxiv.org/abs/1904.05644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Huang S, et al. RTNet: Relation Transformer Network for Diabetic Retinopathy Multi-lesion Segmentation. IEEE TMI, 2022.</a:t>
            </a:r>
          </a:p>
          <a:p xmlns:a="http://schemas.openxmlformats.org/drawingml/2006/main">
            <a:r>
              <a:t>https://arxiv.org/abs/2201.11037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Lepetit-Aimon G, et al. MAPLES-DR: MESSIDOR Anatomical and Pathological Labels for Explainable Screening of Diabetic Retinopathy. Scientific Data, 2024, 11:914.</a:t>
            </a:r>
          </a:p>
          <a:p xmlns:a="http://schemas.openxmlformats.org/drawingml/2006/main">
            <a:r>
              <a:t>https://doi.org/10.1038/s41597-024-03739-6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黄色圈只是方法示意。先用病灶标注规定分析范围，比较区域内外的细血管遗漏。如果问题确实存在，再在训练误差中提高病灶附近的权重。血管标注仍是真实答案。病灶标注帮助训练和评价，实际使用模型时不要求先画病灶。我们还没有验证这种加权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Lepetit-Aimon G, et al. MAPLES-DR: MESSIDOR Anatomical and Pathological Labels for Explainable Screening of Diabetic Retinopathy. Scientific Data, 2024, 11:914.</a:t>
            </a:r>
          </a:p>
          <a:p xmlns:a="http://schemas.openxmlformats.org/drawingml/2006/main">
            <a:r>
              <a:t>https://doi.org/10.1038/s41597-024-03739-6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以FIVES和MAPLES-DR作为当前数据组合。FIVES已经完成基础模型和疾病亚组分析，因此可以继续利用现有工作。为了检查病灶附近的血管漏检，最关键的补充是同一张图像上同时有病灶和血管标注，MAPLES-DR符合这一要求。HRF有糖网病组和血管标注，可以留作后续外部验证。DRIVE也是常用血管分割基准，但缺少病灶配对标注。IDRiD虽然有病灶标注，却缺少我们所需的血管分割标注。选择依据主要是研究问题和标注是否匹配。MAPLES标注可直接下载，原图需另经MESSIDOR获取，本机目前尚未配齐。获取难度是按公开步骤的估计，未实际提交申请。MAPLES官方138张训练、60张测试，训练侧需另留开发图。若进行加权实验，两组保持数据、模型起点和训练步数相同，测试图不用于调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Jin K, et al. FIVES: A Fundus Image Dataset for Artificial Intelligence based Vessel Segmentation. Scientific Data, 2022, 9:475.</a:t>
            </a:r>
          </a:p>
          <a:p xmlns:a="http://schemas.openxmlformats.org/drawingml/2006/main">
            <a:r>
              <a:t>https://doi.org/10.1038/s41597-022-01564-3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Lepetit-Aimon G, et al. MAPLES-DR: MESSIDOR Anatomical and Pathological Labels for Explainable Screening of Diabetic Retinopathy. Scientific Data, 2024, 11:914.</a:t>
            </a:r>
          </a:p>
          <a:p xmlns:a="http://schemas.openxmlformats.org/drawingml/2006/main">
            <a:r>
              <a:t>https://doi.org/10.1038/s41597-024-03739-6</a:t>
            </a:r>
          </a:p>
          <a:p xmlns:a="http://schemas.openxmlformats.org/drawingml/2006/main">
            <a:r>
              <a:t>数据来源（2026-09-13核对）：</a:t>
            </a:r>
          </a:p>
          <a:p xmlns:a="http://schemas.openxmlformats.org/drawingml/2006/main">
            <a:r>
              <a:t>MAPLES-DR：https://liv4d.github.io/MAPLES-DR/en/</a:t>
            </a:r>
          </a:p>
          <a:p xmlns:a="http://schemas.openxmlformats.org/drawingml/2006/main">
            <a:r>
              <a:t>MESSIDOR原图：https://www.adcis.net/en/third-party/messidor/</a:t>
            </a:r>
          </a:p>
          <a:p xmlns:a="http://schemas.openxmlformats.org/drawingml/2006/main">
            <a:r>
              <a:t>HRF：https://www5.cs.fau.de/research/data/fundus-images/</a:t>
            </a:r>
          </a:p>
          <a:p xmlns:a="http://schemas.openxmlformats.org/drawingml/2006/main">
            <a:r>
              <a:t>DRIVE：https://drive.grand-challenge.org/DRIVE/</a:t>
            </a:r>
          </a:p>
          <a:p xmlns:a="http://schemas.openxmlformats.org/drawingml/2006/main">
            <a:r>
              <a:t>DRIVE下载：https://drive.grand-challenge.org/Download/</a:t>
            </a:r>
          </a:p>
          <a:p xmlns:a="http://schemas.openxmlformats.org/drawingml/2006/main">
            <a:r>
              <a:t>IDRiD：https://idrid.grand-challenge.org/Data/</a:t>
            </a:r>
          </a:p>
          <a:p xmlns:a="http://schemas.openxmlformats.org/drawingml/2006/main">
            <a:r>
              <a:t>IDRiD获取：https://ieee-dataport.org/open-access/indian-diabetic-retinopathy-image-dataset-idrid</a:t>
            </a:r>
          </a:p>
          <a:p xmlns:a="http://schemas.openxmlformats.org/drawingml/2006/main">
            <a:r>
              <a:t>IEEE账号：https://innovate.ieee.org/dataport-update/</a:t>
            </a:r>
          </a:p>
          <a:p xmlns:a="http://schemas.openxmlformats.org/drawingml/2006/main">
            <a:r>
              <a:t>DRIVE官网说明测试标签不公开，当前采用在线提交评价。不要将历史镜像标签等同于当前官方下载内容。内部状态：新损失训练仍暂停。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三步概括当前进展。第一，我们已经看到糖网病组细血管召回偏低，在质量标签良好的图像中仍低10.36个百分点。第二，这个现象提出了进一步的问题：遗漏是否集中在病灶附近，以及关注这些区域能否改善分割。第三，准备同图的血管与病灶标注，先完成区域内外的误差分析，再按预定方案决定是否开展加权训练。目前的亚组差异不能直接证明病灶导致遗漏，也不能证明加权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这里列出本次汇报引用的主要文献，分别支持临床背景、基础数据、已有方法和后续数据选择。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Jin K, et al. FIVES: A Fundus Image Dataset for Artificial Intelligence based Vessel Segmentation. Scientific Data, 2022, 9:475.</a:t>
            </a:r>
          </a:p>
          <a:p xmlns:a="http://schemas.openxmlformats.org/drawingml/2006/main">
            <a:r>
              <a:t>https://doi.org/10.1038/s41597-022-01564-3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Fadugba J, et al. Benchmarking Retinal Blood Vessel Segmentation Models for Cross-Dataset and Cross-Disease Generalization. arXiv, 2024.</a:t>
            </a:r>
          </a:p>
          <a:p xmlns:a="http://schemas.openxmlformats.org/drawingml/2006/main">
            <a:r>
              <a:t>https://arxiv.org/abs/2406.14994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Kirchhoff Y, et al. Skeleton Recall Loss for Connectivity Conserving and Resource Efficient Segmentation of Thin Tubular Structures. ECCV, 2024.</a:t>
            </a:r>
          </a:p>
          <a:p xmlns:a="http://schemas.openxmlformats.org/drawingml/2006/main">
            <a:r>
              <a:t>https://arxiv.org/abs/2404.03010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Jiang Y, et al. Retinal Vessels Segmentation Based on Dilated Multi-Scale Convolutional Neural Network. arXiv, 2019.</a:t>
            </a:r>
          </a:p>
          <a:p xmlns:a="http://schemas.openxmlformats.org/drawingml/2006/main">
            <a:r>
              <a:t>https://arxiv.org/abs/1904.05644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Huang S, et al. RTNet: Relation Transformer Network for Diabetic Retinopathy Multi-lesion Segmentation. IEEE TMI, 2022.</a:t>
            </a:r>
          </a:p>
          <a:p xmlns:a="http://schemas.openxmlformats.org/drawingml/2006/main">
            <a:r>
              <a:t>https://arxiv.org/abs/2201.11037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Lepetit-Aimon G, et al. MAPLES-DR: MESSIDOR Anatomical and Pathological Labels for Explainable Screening of Diabetic Retinopathy. Scientific Data, 2024, 11:914.</a:t>
            </a:r>
          </a:p>
          <a:p xmlns:a="http://schemas.openxmlformats.org/drawingml/2006/main">
            <a:r>
              <a:t>https://doi.org/10.1038/s41597-024-03739-6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Zhou Y, et al. AutoMorph: Automated Retinal Vascular Morphology Quantification Via a Deep Learning Pipeline. TVST, 2022, 11(7):12.</a:t>
            </a:r>
          </a:p>
          <a:p xmlns:a="http://schemas.openxmlformats.org/drawingml/2006/main">
            <a:r>
              <a:t>https://doi.org/10.1167/tvst.11.7.12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Diabetes Association. Retinopathy, Neuropathy, and Foot Care: Standards of Care in Diabetes—2026. Diabetes Care, 2026.</a:t>
            </a:r>
          </a:p>
          <a:p xmlns:a="http://schemas.openxmlformats.org/drawingml/2006/main">
            <a:r>
              <a:t>https://doi.org/10.2337/dc26-s012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Chaudhuri S, et al. Detection of blood vessels in retinal images using two-dimensional matched filters. IEEE TMI, 1989, 8(3):263–269.</a:t>
            </a:r>
          </a:p>
          <a:p xmlns:a="http://schemas.openxmlformats.org/drawingml/2006/main">
            <a:r>
              <a:t>https://doi.org/10.1109/42.34715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5ada6a9b84b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a1a300a7648f0" /><Relationship Type="http://schemas.openxmlformats.org/officeDocument/2006/relationships/slideLayout" Target="/ppt/slideLayouts/slideLayout1.xml" Id="Rc833ecebc2dd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3ecebc2dd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5de4dfbfd4dc3" /><Relationship Type="http://schemas.openxmlformats.org/officeDocument/2006/relationships/notesSlide" Target="/ppt/notesSlides/notesSlide1.xml" Id="R700219f3d741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cb0b110024b26" /><Relationship Type="http://schemas.openxmlformats.org/officeDocument/2006/relationships/image" Target="/ppt/media/image.png" Id="R3862b06cc95e453b" /><Relationship Type="http://schemas.openxmlformats.org/officeDocument/2006/relationships/notesSlide" Target="/ppt/notesSlides/notesSlide2.xml" Id="R743a31b8610b45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ab68bcec145c8" /><Relationship Type="http://schemas.openxmlformats.org/officeDocument/2006/relationships/notesSlide" Target="/ppt/notesSlides/notesSlide3.xml" Id="R1cf00afd940a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74912d7e447aa" /><Relationship Type="http://schemas.openxmlformats.org/officeDocument/2006/relationships/image" Target="/ppt/media/image2.png" Id="Rc7caac1da65b4c90" /><Relationship Type="http://schemas.openxmlformats.org/officeDocument/2006/relationships/notesSlide" Target="/ppt/notesSlides/notesSlide4.xml" Id="Rcbf38773f84f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9459729214720" /><Relationship Type="http://schemas.openxmlformats.org/officeDocument/2006/relationships/chart" Target="/ppt/slides/charts/chart1.xml" Id="Rb1106dc1630c4ea4" /><Relationship Type="http://schemas.openxmlformats.org/officeDocument/2006/relationships/notesSlide" Target="/ppt/notesSlides/notesSlide5.xml" Id="Rd713349549b34d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8962af0d74cec" /><Relationship Type="http://schemas.openxmlformats.org/officeDocument/2006/relationships/notesSlide" Target="/ppt/notesSlides/notesSlide6.xml" Id="R959c46c58ef2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053e20b1d4715" /><Relationship Type="http://schemas.openxmlformats.org/officeDocument/2006/relationships/notesSlide" Target="/ppt/notesSlides/notesSlide7.xml" Id="R6d8cf9d78fdb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f51d767aa4253" /><Relationship Type="http://schemas.openxmlformats.org/officeDocument/2006/relationships/notesSlide" Target="/ppt/notesSlides/notesSlide8.xml" Id="R072eac0d4b714f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ee00b3fbf4f16" /><Relationship Type="http://schemas.openxmlformats.org/officeDocument/2006/relationships/image" Target="/ppt/media/image3.png" Id="Re61f903825a9414f" /><Relationship Type="http://schemas.openxmlformats.org/officeDocument/2006/relationships/notesSlide" Target="/ppt/notesSlides/notesSlide9.xml" Id="R98c0f8d994ab48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658bd87164545" /><Relationship Type="http://schemas.openxmlformats.org/officeDocument/2006/relationships/notesSlide" Target="/ppt/notesSlides/notesSlide10.xml" Id="R58badd34f3ed49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8fc1da0304f80" /><Relationship Type="http://schemas.openxmlformats.org/officeDocument/2006/relationships/notesSlide" Target="/ppt/notesSlides/notesSlide11.xml" Id="R2197063e91d940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02eb3e7c44794" /><Relationship Type="http://schemas.openxmlformats.org/officeDocument/2006/relationships/notesSlide" Target="/ppt/notesSlides/notesSlide12.xml" Id="R62ff2bc9ca8243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糖网病组</c:v>
          </c:tx>
          <c:spPr>
            <a:solidFill xmlns:a="http://schemas.openxmlformats.org/drawingml/2006/main">
              <a:srgbClr val="B23C54"/>
            </a:solidFill>
          </c:spPr>
          <c:cat>
            <c:strRef>
              <c:f>'Chart Data'!$A$2:$A$3</c:f>
              <c:strCache>
                <c:ptCount val="2"/>
                <c:pt idx="0">
                  <c:v>全部图像</c:v>
                </c:pt>
                <c:pt idx="1">
                  <c:v>质量良好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68.45</c:v>
                </c:pt>
                <c:pt idx="1">
                  <c:v>72.74</c:v>
                </c:pt>
              </c:numCache>
            </c:numRef>
          </c:val>
        </c:ser>
        <c:ser>
          <c:idx val="1"/>
          <c:order val="1"/>
          <c:tx>
            <c:v>正常组</c:v>
          </c:tx>
          <c:spPr>
            <a:solidFill xmlns:a="http://schemas.openxmlformats.org/drawingml/2006/main">
              <a:srgbClr val="20796D"/>
            </a:solidFill>
          </c:spPr>
          <c:cat>
            <c:strRef>
              <c:f>'Chart Data'!$C$2:$C$3</c:f>
              <c:strCache>
                <c:ptCount val="2"/>
                <c:pt idx="0">
                  <c:v>全部图像</c:v>
                </c:pt>
                <c:pt idx="1">
                  <c:v>质量良好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82.75</c:v>
                </c:pt>
                <c:pt idx="1">
                  <c:v>83.1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D40DA-7BBD-401E-9473-B9E2407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文献调研与研究设想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8B0B1-EB2E-452E-AC95-096C2BA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糖网病病灶引导的</a:t>
            </a:r>
          </a:p>
          <a:p xmlns:a="http://schemas.openxmlformats.org/drawingml/2006/main">
            <a:pPr>
              <a:defRPr sz="45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眼底血管分割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5B8E1-423E-4C16-83FF-E04E88BF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从基础模型的细血管漏检，提出下一步研究问题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310B2-20C7-458A-A6BC-8162EEC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人工智能的临床应用实践</a:t>
            </a:r>
          </a:p>
          <a:p xmlns:a="http://schemas.openxmlformats.org/drawingml/2006/main">
            <a:pPr>
              <a:def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506223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8BBC8-E114-438C-B1BE-531A5EE8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临床场景：糖尿病患者的眼底检查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65F5D-0981-42C3-B054-8D6007D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眼底检查帮助医生发现视网膜病变；本项目关注其中的血管图像分析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F46DE-F14A-4CB9-AF71-DD962D19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临床背景：[8]及美国国立糖尿病研究所。血管量化：[7]。左图为FIVES眼底示例[1]。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3641A-FFD9-452D-827C-497A7735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2b06cc95e453b"/>
          <a:stretch xmlns:a="http://schemas.openxmlformats.org/drawingml/2006/main"/>
        </p:blipFill>
        <p:spPr>
          <a:xfrm xmlns:a="http://schemas.openxmlformats.org/drawingml/2006/main">
            <a:off x="628650" y="186690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FAAF8-8DC8-4954-A0CA-B44CA7C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医生看什么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04456-C477-4DD3-B69A-51D02FA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431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结合眼底检查观察出血、渗出等病灶，</a:t>
            </a:r>
          </a:p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判断病变情况及后续检查、随访需要。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64A73-2675-4223-A3E1-B2775D09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147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我们的研究能补充什么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15DEE-3BD7-4A8A-8897-B297618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72000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先准确提取血管，再计算密度等指标。</a:t>
            </a:r>
          </a:p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细血管漏掉或背景误检，都可能使测量偏离。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1512F-B416-4503-8956-E2A30289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959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当前验证图像分析准确性，尚未验证诊疗获益。</a:t>
            </a:r>
          </a:p>
        </p:txBody>
      </p:sp>
    </p:spTree>
    <p:extLst>
      <p:ext uri="{BB962C8B-B14F-4D97-AF65-F5344CB8AC3E}">
        <p14:creationId xmlns:p14="http://schemas.microsoft.com/office/powerpoint/2010/main" val="370607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EC215-4165-47CB-A585-6ED2CD00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方法演进：从按形状找血管，到检查细血管和测量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8BF7-A05F-4FF5-9B59-ACCBC9E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代表性发展脉络；后续方向相互补充，并非后一种方法完全取代前一种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93FAA-9709-47C6-984C-EB885CD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早期匹配滤波[9]；分割网络与跨疾病评价[2]；多尺度与细结构监督[3,4]；形态量化[7]。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57A6-F69E-4445-A338-FB188A4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009775"/>
          <a:ext xmlns:a="http://schemas.openxmlformats.org/drawingml/2006/main" cx="109347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3675"/>
                <a:gridCol w="2733675"/>
                <a:gridCol w="2733675"/>
                <a:gridCol w="2733675"/>
              </a:tblGrid>
              <a:tr h="936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早期：按规则提取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深度学习：从标注学习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进一步关注细结构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扩展到测量与适用性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</a:tr>
              <a:tr h="936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匹配滤波（1989）[9]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U-Net 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多尺度（2019）[4]</a:t>
                      </a:r>
                    </a:p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细结构监督（2024）[3]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自动形态量化（2022）[7]</a:t>
                      </a:r>
                    </a:p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跨疾病评价（2024）[2]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6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利用血管的灰度和形状，</a:t>
                      </a:r>
                    </a:p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寻找细长结构。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输入图像和人工标注，</a:t>
                      </a:r>
                    </a:p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自动学习血管特征。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关注细分支、连接和</a:t>
                      </a:r>
                    </a:p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病灶背景的区分。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检查密度等测量，</a:t>
                      </a:r>
                    </a:p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并比较疾病与图像质量。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BD68A-1795-4727-9E72-63E0017A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仍待解决：分割得分较高，是否就能把糖网病图像中的细血管找准？</a:t>
            </a:r>
          </a:p>
        </p:txBody>
      </p:sp>
    </p:spTree>
    <p:extLst>
      <p:ext uri="{BB962C8B-B14F-4D97-AF65-F5344CB8AC3E}">
        <p14:creationId xmlns:p14="http://schemas.microsoft.com/office/powerpoint/2010/main" val="2003727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FDE94-BDC4-4C1B-BAA7-D33B65C2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我们的基础尝试：训练一个血管分割模型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FDD19-7975-4C96-A722-422095E2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输入眼底照片，输出血管位置；与人工标注比较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42EAC-3A5B-4BE3-854F-FF2A7433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本地 M0 开发记录；FIVES 数据与人工标注来源：[1]。右图是人工标注，不是模型预测。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65EAE-254E-482A-8837-CE211009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227A9-AF5A-4327-AB68-E7F0BD1F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5857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眼底血管数据集 FIVES</a:t>
            </a:r>
          </a:p>
          <a:p xmlns:a="http://schemas.openxmlformats.org/drawingml/2006/main">
            <a:pPr>
              <a:defRPr sz="27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470 张训练，118 张开发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96588-C1EA-47B3-A0E4-A94E3D2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基础模型 M0：U-Net</a:t>
            </a:r>
          </a:p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交叉熵（BCE）与 Dice 损失，训练 10,000 步</a:t>
            </a:r>
          </a:p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完成整张图像预测与逐图评价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B74D8-BC45-4938-992F-3E21B4AB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这一步的作用：发现问题，为选题提供依据。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aac1da65b4c90"/>
          <a:stretch xmlns:a="http://schemas.openxmlformats.org/drawingml/2006/main"/>
        </p:blipFill>
        <p:spPr>
          <a:xfrm xmlns:a="http://schemas.openxmlformats.org/drawingml/2006/main">
            <a:off x="7410450" y="1924050"/>
            <a:ext cx="3733800" cy="3733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956B1-38CC-4C5A-9B08-21371F5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435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人工血管标注示例</a:t>
            </a:r>
          </a:p>
        </p:txBody>
      </p:sp>
    </p:spTree>
    <p:extLst>
      <p:ext uri="{BB962C8B-B14F-4D97-AF65-F5344CB8AC3E}">
        <p14:creationId xmlns:p14="http://schemas.microsoft.com/office/powerpoint/2010/main" val="1832928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BEDBA-5391-461B-82C2-A5E53BA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糖网病组的细血管召回偏低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BBF0A-26AB-4FB0-AF0B-CD892046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即使只比较质量标签良好的图像，差异仍然存在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4A665-D91D-4111-9D65-905C97F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M0 同一开发集上的追加探索分析；单种子、阈值0.5，不能据此认定病灶导致遗漏。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07899-6A24-4295-9D40-D67A978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7048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106dc1630c4ea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C950-3C96-4BAA-BF72-42FA8CA1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049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细血管召回率（%）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AD7DB-A67F-424C-9ACA-05913921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质量良好时仍相差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B40AB-137C-4DC9-AE94-7F9489F4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B23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B23C54"/>
                </a:solidFill>
                <a:latin typeface="Microsoft YaHei"/>
                <a:ea typeface="Microsoft YaHei"/>
                <a:cs typeface="Microsoft YaHei"/>
              </a:rPr>
              <a:t>10.36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9837E-E64E-46B1-8691-B69F7F2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671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23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23C54"/>
                </a:solidFill>
                <a:latin typeface="Microsoft YaHei"/>
                <a:ea typeface="Microsoft YaHei"/>
                <a:cs typeface="Microsoft YaHei"/>
              </a:rPr>
              <a:t>个百分点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5EBC4-DB94-46DD-B72E-D2B71F44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糖网病 20 张，正常 29 张</a:t>
            </a:r>
          </a:p>
          <a:p xmlns:a="http://schemas.openxmlformats.org/drawingml/2006/main">
            <a:pPr>
              <a:def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全部图像比较：各 30 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E9868-2CD2-4EA1-BA2C-6D1ADCF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245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质量良好：光照/颜色、清晰度、对比度标签均为1。疾病本身也可能影响质量。</a:t>
            </a:r>
          </a:p>
        </p:txBody>
      </p:sp>
    </p:spTree>
    <p:extLst>
      <p:ext uri="{BB962C8B-B14F-4D97-AF65-F5344CB8AC3E}">
        <p14:creationId xmlns:p14="http://schemas.microsoft.com/office/powerpoint/2010/main" val="606307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7AAB8-29FA-4B98-BC5C-75484F4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围绕这个现象，我们进一步查了什么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F8B56-0D56-4CF5-9A6B-7878111D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围绕疾病差异、细血管遗漏，以及病灶和血管的关系继续检索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7C212-C52E-47C3-865C-137674DA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2026-09-13补充核对预印本与期刊论文页面。本轮为针对性调研，非系统综述。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95B94-6AD2-4551-962C-CF40DF7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10934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476750"/>
                <a:gridCol w="3028950"/>
              </a:tblGrid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想弄清的问题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中文检索主题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关注的文献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疾病和质量是否影响分割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眼底血管分割</a:t>
                      </a:r>
                    </a:p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疾病差异、图像质量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跨疾病评价 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细血管为什么容易漏掉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细血管、骨架召回</a:t>
                      </a:r>
                    </a:p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多尺度血管分割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细结构、多尺度方法 [3,4]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病灶信息能不能提供帮助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病灶与血管关系</a:t>
                      </a:r>
                    </a:p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糖尿病视网膜病变、分割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病灶关系、配对标注 [5,6]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82429-8416-4201-95A7-4B6CA975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重点看任务、标注和比较方式，区分“血管分割”与“病灶分割”。</a:t>
            </a:r>
          </a:p>
        </p:txBody>
      </p:sp>
    </p:spTree>
    <p:extLst>
      <p:ext uri="{BB962C8B-B14F-4D97-AF65-F5344CB8AC3E}">
        <p14:creationId xmlns:p14="http://schemas.microsoft.com/office/powerpoint/2010/main" val="1696987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95BDD-34F5-4E0F-9039-3E00C176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代表性研究：解决了什么，还需要检查什么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59C82-B629-49D1-9A27-C07B628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把方法演进落到具体问题：细血管能否找准，测量能否可靠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0965F-4CB2-43BD-83EB-97B5AD17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文献[2–7]。病灶分割与血管分割是不同任务；相关方法不能直接证明本研究设想有效。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6C38E-E914-45CA-9A4C-67608500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838325"/>
          <a:ext xmlns:a="http://schemas.openxmlformats.org/drawingml/2006/main" cx="109347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00500"/>
                <a:gridCol w="407670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研究方向与代表工作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已有进展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对本项目的启发与限制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D-Net 多尺度提取 [4]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利用不同尺度的特征区分血管与背景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关注细血管，但还要检查糖网病亚组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Skeleton Recall 损失 [3]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训练时强调细结构的召回和连接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少漏血管的同时，也要检查误检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跨疾病评价 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比较疾病和图像质量下的分割表现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疾病差异不能直接归因于病灶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RTNet 病灶分割 [5]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利用血管信息改善病灶识别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提供关系启发，任务方向与我们不同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配对标注与形态量化 [6,7]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提供病灶、血管标注和形态测量方法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可以检验局部遗漏及其测量影响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736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5DFE4-7A00-4472-B08A-4534D9E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我们想进一步回答：遗漏集中在病灶附近吗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6865B-6433-45E5-B7FB-ACFCAA4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从“哪个疾病组表现较差”，进一步看“图像中的哪些位置容易出错”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FD143-879E-4BED-8A66-C617EF7A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研究问题由本地观察与文献启发提出；目前没有病灶邻域验证结果。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D907F-46FC-4CFF-A4A2-C3E62695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44CD6-9EE8-4B4D-9F7C-DEE0155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已有观察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E8076-2718-4B3D-95FE-6667AD9B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23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糖网病组细血管召回偏低，</a:t>
            </a:r>
          </a:p>
          <a:p xmlns:a="http://schemas.openxmlformats.org/drawingml/2006/main">
            <a:pPr>
              <a:defRPr sz="25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质量良好时仍有差异。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F743F-B60C-4167-9F46-E97A02B6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还不知道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4E705-EF0B-4816-A58F-49EDF162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62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这些遗漏是否更多出现在病灶附近？</a:t>
            </a:r>
          </a:p>
          <a:p xmlns:a="http://schemas.openxmlformats.org/drawingml/2006/main">
            <a:pPr>
              <a:defRPr sz="24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如果是，训练时重点关注这些区域会有帮助吗？</a:t>
            </a:r>
          </a:p>
        </p:txBody>
      </p:sp>
    </p:spTree>
    <p:extLst>
      <p:ext uri="{BB962C8B-B14F-4D97-AF65-F5344CB8AC3E}">
        <p14:creationId xmlns:p14="http://schemas.microsoft.com/office/powerpoint/2010/main" val="246575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A6648-733E-452C-94DF-2B0DF930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初步设想：训练时多关注病灶附近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9F257-F703-4F6B-8409-F6578CBB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先检查局部遗漏，再决定是否尝试病灶附近加权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0A659-C238-4168-BD80-510D8900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方法示意，不是实验结果。病灶引导能否改善血管分割，尚待验证。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BF7EC-6EDB-4410-8B08-0982304E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f903825a9414f"/>
          <a:stretch xmlns:a="http://schemas.openxmlformats.org/drawingml/2006/main"/>
        </p:blipFill>
        <p:spPr>
          <a:xfrm xmlns:a="http://schemas.openxmlformats.org/drawingml/2006/main">
            <a:off x="666750" y="1952625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4BA8F-65D6-4500-AA46-6148CC46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浅色：血管　红色：病灶</a:t>
            </a:r>
          </a:p>
          <a:p xmlns:a="http://schemas.openxmlformats.org/drawingml/2006/main">
            <a:pPr>
              <a:defRPr sz="15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黄色圈：拟分析的附近区域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467E-D5B8-4983-949E-7AF9844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288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先比较区域内外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BF4C0-D8ED-46C7-A5F1-3DFEE460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根据病灶标注规定范围，</a:t>
            </a:r>
          </a:p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检查这里是否更容易漏掉细血管。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FF3DB-C77A-4CE5-B1F8-CC1F4BBF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8145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若存在局部问题，再尝试加权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2C24A-BB92-4936-AE4D-1052096E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48200"/>
            <a:ext cx="633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计算训练误差时，提高这一区域的权重。</a:t>
            </a:r>
          </a:p>
          <a:p xmlns:a="http://schemas.openxmlformats.org/drawingml/2006/main">
            <a:pPr>
              <a:def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人工血管标注不变，使用时仍只输入照片。</a:t>
            </a:r>
          </a:p>
        </p:txBody>
      </p:sp>
    </p:spTree>
    <p:extLst>
      <p:ext uri="{BB962C8B-B14F-4D97-AF65-F5344CB8AC3E}">
        <p14:creationId xmlns:p14="http://schemas.microsoft.com/office/powerpoint/2010/main" val="229081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95270-F176-479E-8DA3-60AD809E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在 FIVES 基础上，考虑哪些补充数据集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C570C-948D-4851-B4D5-498A5FC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FIVES 已用于基础模型与疾病亚组分析，下一步需要补足病灶标注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8AC73-AADE-4D0D-8398-C99C2E36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获取难度按公开流程估计，不代表审批时长。来源及获取入口见本页备注。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6C0DD-E62E-4ADA-8FE9-52857DC2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743075"/>
          <a:ext xmlns:a="http://schemas.openxmlformats.org/drawingml/2006/main" cx="109347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410200"/>
                <a:gridCol w="3429000"/>
              </a:tblGrid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备选数据集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主要内容与用途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 / 获取难度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MAPLES-DR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198张，同图血管与病灶标注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可直接分析病灶附近的血管遗漏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中：标注公开下载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原图需另填 MESSIDOR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HRF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45张，正常、糖网病、青光眼各15张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有血管标注，适合补充跨数据集验证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低：官网公开下载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无完整病灶分割标注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40张，血管分割基准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可比较外部表现，缺少病灶配对标注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待核实：官方提供下载入口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当前申请要求需确认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IDRiD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516张分级，81张有像素级病灶标注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适合病灶研究，缺少血管分割标注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较低：IEEE DataPort 公开数据</a:t>
                      </a:r>
                    </a:p>
                    <a:p>
                      <a:r>
                        <a:rPr sz="1650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需准备平台账号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C9768-9C2A-4A0B-94D8-7718F87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现阶段选择 FIVES + MAPLES-DR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ABE4-19DB-4C0E-B8EC-DDC4B0F4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FIVES：已有基础模型和亚组结果，可继续作为研究起点。</a:t>
            </a:r>
          </a:p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MAPLES-DR：同时有血管与病灶标注，能直接检验病灶附近是否更易漏检。</a:t>
            </a:r>
          </a:p>
        </p:txBody>
      </p:sp>
    </p:spTree>
    <p:extLst>
      <p:ext uri="{BB962C8B-B14F-4D97-AF65-F5344CB8AC3E}">
        <p14:creationId xmlns:p14="http://schemas.microsoft.com/office/powerpoint/2010/main" val="978279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60512-48A7-462C-9736-C5AB1389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当前结论与下一步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30228-842F-418D-AEA5-ADDB854B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已有发现、研究问题与后续验证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0B4FD-2353-4105-8691-10CF351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当前为开发集探索分析，尚无病灶附近分析或局部加权有效性的验证结果。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7D603-79FD-45CC-A0D5-C668616B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7F0EA-6BA7-48CE-BF64-13C4B106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0"/>
          </a:solidFill>
          <a:ln xmlns:a="http://schemas.openxmlformats.org/drawingml/2006/main" w="9525">
            <a:solidFill>
              <a:srgbClr val="173B4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D135F-2435-4C43-990C-7371966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4"/>
          </a:solidFill>
          <a:ln xmlns:a="http://schemas.openxmlformats.org/drawingml/2006/main" w="9525">
            <a:solidFill>
              <a:srgbClr val="D4DF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C778-F66F-43FB-8566-E81B825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4"/>
          </a:solidFill>
          <a:ln xmlns:a="http://schemas.openxmlformats.org/drawingml/2006/main" w="9525">
            <a:solidFill>
              <a:srgbClr val="D4DF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C5D9B-20BB-4A56-B6BA-AE53ADF1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E7DF"/>
                </a:solidFill>
                <a:latin typeface="Microsoft YaHei"/>
                <a:ea typeface="Microsoft YaHei"/>
                <a:cs typeface="Microsoft YaHei"/>
              </a:rPr>
              <a:t>01  已有发现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3CBF1-6E95-41F8-B513-C6E2573D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274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糖网病组的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细血管召回偏低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842A3-BCC7-4CA6-86C3-7AB682EB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743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1EE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1EEEB"/>
                </a:solidFill>
                <a:latin typeface="Microsoft YaHei"/>
                <a:ea typeface="Microsoft YaHei"/>
                <a:cs typeface="Microsoft YaHei"/>
              </a:rPr>
              <a:t>质量标签良好时，</a:t>
            </a:r>
          </a:p>
          <a:p xmlns:a="http://schemas.openxmlformats.org/drawingml/2006/main">
            <a:pPr>
              <a:defRPr sz="1800" b="0">
                <a:solidFill>
                  <a:srgbClr val="E1EE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1EEEB"/>
                </a:solidFill>
                <a:latin typeface="Microsoft YaHei"/>
                <a:ea typeface="Microsoft YaHei"/>
                <a:cs typeface="Microsoft YaHei"/>
              </a:rPr>
              <a:t>仍低于正常组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9F8C1-9846-42AE-B630-D030324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10.36 个百分点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B67C7-C8BA-408C-BE94-320826F1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02  研究问题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1010B-4CD7-431C-B4FF-FCC1763B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67025"/>
            <a:ext cx="274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遗漏是否集中</a:t>
            </a:r>
          </a:p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在病灶附近？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491CF-5955-430D-8780-C1014BBF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276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若存在局部遗漏，</a:t>
            </a:r>
          </a:p>
          <a:p xmlns:a="http://schemas.openxmlformats.org/drawingml/2006/main">
            <a:pPr>
              <a:defRPr sz="18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训练时重点关注这些区域</a:t>
            </a:r>
          </a:p>
          <a:p xmlns:a="http://schemas.openxmlformats.org/drawingml/2006/main">
            <a:pPr>
              <a:defRPr sz="18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能否改善细血管分割？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CBB48-FBD7-45F0-AB20-D712A83E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03  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E9631-EDEB-429E-8472-204A5E9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67025"/>
            <a:ext cx="274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准备配对标注</a:t>
            </a:r>
          </a:p>
          <a:p xmlns:a="http://schemas.openxmlformats.org/drawingml/2006/main">
            <a:pPr>
              <a:def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完成局部分析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97929-48DE-4448-ACF8-93ED7B44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76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比较病灶邻域内外，</a:t>
            </a:r>
          </a:p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再按预定方案决定</a:t>
            </a:r>
          </a:p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是否开展局部加权训练。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64988-C97B-41E2-AB42-422033A0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562B0-EE77-4B03-827F-7AA93289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DDB3B-9207-42AF-82B2-7701A1E1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796D"/>
                </a:solidFill>
                <a:latin typeface="Microsoft YaHei"/>
                <a:ea typeface="Microsoft YaHei"/>
                <a:cs typeface="Microsoft YaHei"/>
              </a:rPr>
              <a:t>先确定遗漏发生在哪里，再判断病灶引导是否值得尝试。</a:t>
            </a:r>
          </a:p>
        </p:txBody>
      </p:sp>
    </p:spTree>
    <p:extLst>
      <p:ext uri="{BB962C8B-B14F-4D97-AF65-F5344CB8AC3E}">
        <p14:creationId xmlns:p14="http://schemas.microsoft.com/office/powerpoint/2010/main" val="194387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F7A2B-CB6F-4A61-850D-36865FD5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B40"/>
                </a:solidFill>
                <a:latin typeface="Microsoft YaHei"/>
                <a:ea typeface="Microsoft YaHei"/>
                <a:cs typeface="Microsoft YaHei"/>
              </a:rPr>
              <a:t>主要参考文献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D6719-9B37-492E-B617-1EFC5768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4B50"/>
                </a:solidFill>
                <a:latin typeface="Microsoft YaHei"/>
                <a:ea typeface="Microsoft YaHei"/>
                <a:cs typeface="Microsoft YaHei"/>
              </a:rPr>
              <a:t>完整链接同时保留在备注和配套讲稿中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97AB2-54BD-4670-853C-7337E86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26692-3354-4262-A255-466129CD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97D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8572500"/>
                <a:gridCol w="17811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文献信息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本汇报用途</a:t>
                      </a:r>
                    </a:p>
                  </a:txBody>
                  <a:tcPr marL="91440" marR="91440" marT="45720" marB="45720">
                    <a:solidFill>
                      <a:srgbClr val="173B4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Jin K, et al. FIVES: A Fundus Image Dataset for Artificial Intelligence based Vessel Segmentation. Scientific Data, 2022, 9:475.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[2]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Fadugba J, et al. Benchmarking Retinal Blood Vessel Segmentation Models for Cross-Dataset and Cross-Disease Generalization. arXiv, 2024.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疾病与质量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Kirchhoff Y, et al. Skeleton Recall Loss for Connectivity Conserving and Resource Efficient Segmentation of Thin Tubular Structures. ECCV, 2024.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细结构监督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[4]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Jiang Y, et al. Retinal Vessels Segmentation Based on Dilated Multi-Scale Convolutional Neural Network. arXiv, 2019.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细血管与病灶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Huang S, et al. RTNet: Relation Transformer Network for Diabetic Retinopathy Multi-lesion Segmentation. IEEE TMI, 2022.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血管与病灶关系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[6]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Lepetit-Aimon G, et al. MAPLES-DR: MESSIDOR Anatomical and Pathological Labels for Explainable Screening of Diabetic Retinopathy. Scientific Data, 2024, 11:914.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同图配对标注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Zhou Y, et al. AutoMorph: Automated Retinal Vascular Morphology Quantification Via a Deep Learning Pipeline. TVST, 2022, 11(7):12.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血管形态测量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[8]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American Diabetes Association. Retinopathy, Neuropathy, and Foot Care: Standards of Care in Diabetes—2026. Diabetes Care, 2026.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临床背景</a:t>
                      </a:r>
                    </a:p>
                  </a:txBody>
                  <a:tcPr marL="91440" marR="91440" marT="45720" marB="45720">
                    <a:solidFill>
                      <a:srgbClr val="F0F6F4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Chaudhuri S, et al. Detection of blood vessels in retinal images using two-dimensional matched filters. IEEE TMI, 1989, 8(3):263–269.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3D4B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早期血管提取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144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2026-09-13T12:14:38.4180000Z</dcterms:created>
  <dcterms:modified xsi:type="dcterms:W3CDTF">2026-09-13T12:14:38.4180000Z</dcterms:modified>
</coreProperties>
</file>