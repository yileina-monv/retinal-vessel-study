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5cb5aad0fa426d" /><Relationship Type="http://schemas.openxmlformats.org/officeDocument/2006/relationships/extended-properties" Target="/docProps/app.xml" Id="Raa5bec5a3c984628" /><Relationship Type="http://schemas.openxmlformats.org/officeDocument/2006/relationships/officeDocument" Target="/ppt/presentation.xml" Id="R02f878ae2c6e46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164fe450b3463e"/>
  </p:sldMasterIdLst>
  <p:notesMasterIdLst>
    <p:notesMasterId xmlns:r="http://schemas.openxmlformats.org/officeDocument/2006/relationships" r:id="R85ddc4507b7b4de2"/>
  </p:notesMasterIdLst>
  <p:sldIdLst>
    <p:sldId xmlns:r="http://schemas.openxmlformats.org/officeDocument/2006/relationships" id="256" r:id="R26656aad19cd4430"/>
    <p:sldId xmlns:r="http://schemas.openxmlformats.org/officeDocument/2006/relationships" id="257" r:id="R2822d431db30496e"/>
    <p:sldId xmlns:r="http://schemas.openxmlformats.org/officeDocument/2006/relationships" id="258" r:id="R5d4ad026b97e45fd"/>
    <p:sldId xmlns:r="http://schemas.openxmlformats.org/officeDocument/2006/relationships" id="259" r:id="R6c640616c3ea4405"/>
    <p:sldId xmlns:r="http://schemas.openxmlformats.org/officeDocument/2006/relationships" id="260" r:id="R8daf6b9a35144b01"/>
    <p:sldId xmlns:r="http://schemas.openxmlformats.org/officeDocument/2006/relationships" id="261" r:id="R3785cf4640764bfc"/>
    <p:sldId xmlns:r="http://schemas.openxmlformats.org/officeDocument/2006/relationships" id="262" r:id="Re94d488048814d01"/>
    <p:sldId xmlns:r="http://schemas.openxmlformats.org/officeDocument/2006/relationships" id="263" r:id="Rde0704b2f1c34e51"/>
    <p:sldId xmlns:r="http://schemas.openxmlformats.org/officeDocument/2006/relationships" id="264" r:id="Racf4d81576534e9a"/>
    <p:sldId xmlns:r="http://schemas.openxmlformats.org/officeDocument/2006/relationships" id="265" r:id="R61b023cf5c6d4c12"/>
    <p:sldId xmlns:r="http://schemas.openxmlformats.org/officeDocument/2006/relationships" id="266" r:id="R60720653c5a14e7a"/>
    <p:sldId xmlns:r="http://schemas.openxmlformats.org/officeDocument/2006/relationships" id="267" r:id="Rd32cbbdd26f742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f79a7212b64afe" /><Relationship Type="http://schemas.openxmlformats.org/officeDocument/2006/relationships/slideMaster" Target="/ppt/slideMasters/slideMaster1.xml" Id="Rfa164fe450b3463e" /><Relationship Type="http://schemas.openxmlformats.org/officeDocument/2006/relationships/notesMaster" Target="/ppt/notesMasters/notesMaster1.xml" Id="R85ddc4507b7b4de2" /><Relationship Type="http://schemas.openxmlformats.org/officeDocument/2006/relationships/presProps" Target="/ppt/presProps.xml" Id="R7b0820f798f245f6" /><Relationship Type="http://schemas.openxmlformats.org/officeDocument/2006/relationships/viewProps" Target="/ppt/viewProps.xml" Id="R6209a75231604d24" /><Relationship Type="http://schemas.openxmlformats.org/officeDocument/2006/relationships/tableStyles" Target="/ppt/tableStyles.xml" Id="R6a3defdc85214a63" /><Relationship Type="http://schemas.openxmlformats.org/officeDocument/2006/relationships/slide" Target="/ppt/slides/slide1.xml" Id="R26656aad19cd4430" /><Relationship Type="http://schemas.openxmlformats.org/officeDocument/2006/relationships/slide" Target="/ppt/slides/slide2.xml" Id="R2822d431db30496e" /><Relationship Type="http://schemas.openxmlformats.org/officeDocument/2006/relationships/slide" Target="/ppt/slides/slide3.xml" Id="R5d4ad026b97e45fd" /><Relationship Type="http://schemas.openxmlformats.org/officeDocument/2006/relationships/slide" Target="/ppt/slides/slide4.xml" Id="R6c640616c3ea4405" /><Relationship Type="http://schemas.openxmlformats.org/officeDocument/2006/relationships/slide" Target="/ppt/slides/slide5.xml" Id="R8daf6b9a35144b01" /><Relationship Type="http://schemas.openxmlformats.org/officeDocument/2006/relationships/slide" Target="/ppt/slides/slide6.xml" Id="R3785cf4640764bfc" /><Relationship Type="http://schemas.openxmlformats.org/officeDocument/2006/relationships/slide" Target="/ppt/slides/slide7.xml" Id="Re94d488048814d01" /><Relationship Type="http://schemas.openxmlformats.org/officeDocument/2006/relationships/slide" Target="/ppt/slides/slide8.xml" Id="Rde0704b2f1c34e51" /><Relationship Type="http://schemas.openxmlformats.org/officeDocument/2006/relationships/slide" Target="/ppt/slides/slide9.xml" Id="Racf4d81576534e9a" /><Relationship Type="http://schemas.openxmlformats.org/officeDocument/2006/relationships/slide" Target="/ppt/slides/slide10.xml" Id="R61b023cf5c6d4c12" /><Relationship Type="http://schemas.openxmlformats.org/officeDocument/2006/relationships/slide" Target="/ppt/slides/slide11.xml" Id="R60720653c5a14e7a" /><Relationship Type="http://schemas.openxmlformats.org/officeDocument/2006/relationships/slide" Target="/ppt/slides/slide12.xml" Id="Rd32cbbdd26f742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15e844dca049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7012165d1b46ff" /><Relationship Type="http://schemas.openxmlformats.org/officeDocument/2006/relationships/notesMaster" Target="/ppt/notesMasters/notesMaster1.xml" Id="R886e15effe5547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2fa18e7f4f44c3" /><Relationship Type="http://schemas.openxmlformats.org/officeDocument/2006/relationships/notesMaster" Target="/ppt/notesMasters/notesMaster1.xml" Id="Ra90ba7032c6444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dbcac798a24235" /><Relationship Type="http://schemas.openxmlformats.org/officeDocument/2006/relationships/notesMaster" Target="/ppt/notesMasters/notesMaster1.xml" Id="Rc73071e96e7640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72cab063074447" /><Relationship Type="http://schemas.openxmlformats.org/officeDocument/2006/relationships/notesMaster" Target="/ppt/notesMasters/notesMaster1.xml" Id="R5847068032b848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c6fa7048924311" /><Relationship Type="http://schemas.openxmlformats.org/officeDocument/2006/relationships/notesMaster" Target="/ppt/notesMasters/notesMaster1.xml" Id="Ra1139739ed5b48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c4b25b8a984de6" /><Relationship Type="http://schemas.openxmlformats.org/officeDocument/2006/relationships/notesMaster" Target="/ppt/notesMasters/notesMaster1.xml" Id="R387a8ace6bba47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5dfc5863484a54" /><Relationship Type="http://schemas.openxmlformats.org/officeDocument/2006/relationships/notesMaster" Target="/ppt/notesMasters/notesMaster1.xml" Id="R752277a619804f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447b6004e64eff" /><Relationship Type="http://schemas.openxmlformats.org/officeDocument/2006/relationships/notesMaster" Target="/ppt/notesMasters/notesMaster1.xml" Id="Rcd5c4c1da7b049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acd14dfdaf4ea3" /><Relationship Type="http://schemas.openxmlformats.org/officeDocument/2006/relationships/notesMaster" Target="/ppt/notesMasters/notesMaster1.xml" Id="R19c0b7dbab6349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6214b1e797481f" /><Relationship Type="http://schemas.openxmlformats.org/officeDocument/2006/relationships/notesMaster" Target="/ppt/notesMasters/notesMaster1.xml" Id="Rd3e40dcb3e8b49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b1ec94b2084425" /><Relationship Type="http://schemas.openxmlformats.org/officeDocument/2006/relationships/notesMaster" Target="/ppt/notesMasters/notesMaster1.xml" Id="R2f3135a1284e4d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47e89d9c164227" /><Relationship Type="http://schemas.openxmlformats.org/officeDocument/2006/relationships/notesMaster" Target="/ppt/notesMasters/notesMaster1.xml" Id="R687b4ff72c034f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们小组研究的是糖网病病灶引导的眼底血管分割。先看这张眼底照片，可以看到很多分支状的血管。眼底图像可以帮助评估糖网病，血管的形态也可以用于量化研究。如果想测量血管密度，首先就要把血管从背景中找出来。细血管漏掉了，或者把背景认成血管，都会影响后面的测量。因此，我们先训练一个基础模型，再根据它的不足提出改进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[1] Jin K, Huang X, Zhou J, et al. FIVES: A Fundus Image Dataset for Artificial Intelligence based Vessel Segmentation. Scientific Data, 2022, 9:475. https://doi.org/10.1038/s41597-022-01564-3</a:t>
            </a:r>
          </a:p>
          <a:p xmlns:a="http://schemas.openxmlformats.org/drawingml/2006/main">
            <a:r>
              <a:t>[7] Zhou Y, Wagner S K, Chia M A, et al. AutoMorph: Automated Retinal Vascular Morphology Quantification Via a Deep Learning Pipeline. Translational Vision Science &amp; Technology, 2022, 11(7):12. https://doi.org/10.1167/tvst.11.7.12</a:t>
            </a:r>
          </a:p>
          <a:p xmlns:a="http://schemas.openxmlformats.org/drawingml/2006/main">
            <a:r>
              <a:t>[9] American Diabetes Association Professional Practice Committee for Diabetes. 12. Retinopathy, Neuropathy, and Foot Care: Standards of Care in Diabetes—2026. Diabetes Care, 2026. https://doi.org/10.2337/dc26-s012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我们先把基础任务跑通：输入一张眼底照片，输出血管掩膜，也就是把哪些像素属于血管标出来。右边是人工标注，作为模型学习和评价的参考。使用的 FIVES 数据集共有 800 张图像，官方训练和测试划分为 600／200。我们从官方训练部分划出 470 张训练、118 张开发，另有 12 张暂缓使用。基础模型采用 U-Net，使用 BCE 和 Dice 损失，已经完成 10,000 步训练。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[1] Jin K, Huang X, Zhou J, et al. FIVES: A Fundus Image Dataset for Artificial Intelligence based Vessel Segmentation. Scientific Data, 2022, 9:475. https://doi.org/10.1038/s41597-022-01564-3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训练时，模型从局部图像中学习血管的样子；预测时，再得到整张照片的血管结果。这里保留两条主要曲线：整体 Dice 和细血管召回。两者随训练推进有所提高，但评价的对象不同，不能直接把差值当成漏检率。训练到一万步后，模型已经有了基本效果，接下来要看它在哪些图像上还不够好。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M0 的总体 Dice 是 90.85%，但细血管召回为 73.31%。按疾病标签分组，糖网病组是 68.45%，正常组是 82.75%，相差 14.30 个百分点。这说明我们有必要进一步检查糖网病图像中的细血管遗漏。由此提出的课题就是病灶引导的眼底血管分割：先看病灶附近是否更容易出错，再尝试加强这些区域的训练。现在看到的是开发集上的分组差异，图像质量等因素还没有排除，所以暂时不能说病灶就是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我们主要参考了四项工作。跨数据集研究提醒我们，图像质量可能影响结果，不能只看疾病标签。SRL 关注细管状结构的召回，可以作为结构监督的参考。CF-Loss 关注密度等形态特征，说明像素得分高，测量也不一定准确。MAPLES-DR 则提供同一张图上的血管和病灶标注，让我们能够分析病灶附近的情况。我们的工作是在这些基础上，检查局部加权是否有额外改善；目前还不能声称这个思路是首创。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Fadugba J, Köhler P, Koch L, et al. Benchmarking Retinal Blood Vessel Segmentation Models for Cross-Dataset and Cross-Disease Generalization. arXiv, 2024. https://arxiv.org/abs/2406.14994</a:t>
            </a:r>
          </a:p>
          <a:p xmlns:a="http://schemas.openxmlformats.org/drawingml/2006/main">
            <a:r>
              <a:t>[3] Kirchhoff Y, Rokuss M R, Roy S, et al. Skeleton Recall Loss for Connectivity Conserving and Resource Efficient Segmentation of Thin Tubular Structures. ECCV, 2024. https://arxiv.org/abs/2404.03010</a:t>
            </a:r>
          </a:p>
          <a:p xmlns:a="http://schemas.openxmlformats.org/drawingml/2006/main">
            <a:r>
              <a:t>[4] Zhou Y, Xu M, Hu Y, et al. CF-Loss: Clinically-relevant feature optimised loss function for retinal multi-class vessel segmentation and vascular feature measurement. Medical Image Analysis, 2024, 93:103098. https://doi.org/10.1016/j.media.2024.103098</a:t>
            </a:r>
          </a:p>
          <a:p xmlns:a="http://schemas.openxmlformats.org/drawingml/2006/main">
            <a:r>
              <a:t>[5] Lepetit-Aimon G, Playout C, Boucher M C, et al. MAPLES-DR: MESSIDOR Anatomical and Pathological Labels for Explainable Screening of Diabetic Retinopathy. Scientific Data, 2024, 11:914. https://doi.org/10.1038/s41597-024-03739-6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用示意图解释病灶引导。浅色线是血管，红色区域代表病灶，黄色圈是我们关注的邻域。先根据标注规定这个范围，检查里面是否更容易漏掉血管。如果问题确实存在，就在训练时提高这些区域的权重，让模型多关注它们。人工血管标注保持不变。实际使用时仍然只输入照片，不要求先把病灶画出来。这个方案还需要实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Lepetit-Aimon G, Playout C, Boucher M C, et al. MAPLES-DR: MESSIDOR Anatomical and Pathological Labels for Explainable Screening of Diabetic Retinopathy. Scientific Data, 2024, 11:914. https://doi.org/10.1038/s41597-024-03739-6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这项工作和临床的联系，主要在于让测量更准确。漏掉细血管，密度可能偏低；把背景当成血管，密度可能偏高；错误连接也会影响形态分析。已有一项 2026 年的纵向研究纳入 20,855 人，发现血管形态与之后接受威胁视力糖网病治疗存在关联。这说明血管形态值得研究，但不代表我们的模型已经能预测风险。我们现阶段准备验证的是分割和测量误差能否减少，临床效果还需要后续研究。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Zhou Y, Xu M, Hu Y, et al. CF-Loss: Clinically-relevant feature optimised loss function for retinal multi-class vessel segmentation and vascular feature measurement. Medical Image Analysis, 2024, 93:103098. https://doi.org/10.1016/j.media.2024.103098</a:t>
            </a:r>
          </a:p>
          <a:p xmlns:a="http://schemas.openxmlformats.org/drawingml/2006/main">
            <a:r>
              <a:t>[6] Lyu X, Cheng L, Zhang S. The RETA Benchmark for Retinal Vascular Tree Analysis. Scientific Data, 2022, 9:397. https://doi.org/10.1038/s41597-022-01507-y</a:t>
            </a:r>
          </a:p>
          <a:p xmlns:a="http://schemas.openxmlformats.org/drawingml/2006/main">
            <a:r>
              <a:t>[7] Zhou Y, Wagner S K, Chia M A, et al. AutoMorph: Automated Retinal Vascular Morphology Quantification Via a Deep Learning Pipeline. Translational Vision Science &amp; Technology, 2022, 11(7):12. https://doi.org/10.1167/tvst.11.7.12</a:t>
            </a:r>
          </a:p>
          <a:p xmlns:a="http://schemas.openxmlformats.org/drawingml/2006/main">
            <a:r>
              <a:t>[8] Deep learning-derived retinal vascular morphology and incident treatment for sight-threatening diabetic retinopathy. Ophthalmology Science, 2026, 101385 (journal pre-proof, online 26 August). https://doi.org/10.1016/j.xops.2026.101385</a:t>
            </a:r>
          </a:p>
          <a:p xmlns:a="http://schemas.openxmlformats.org/drawingml/2006/main">
            <a:r>
              <a:t>[9] American Diabetes Association Professional Practice Committee for Diabetes. 12. Retinopathy, Neuropathy, and Foot Care: Standards of Care in Diabetes—2026. Diabetes Care, 2026. https://doi.org/10.2337/dc26-s012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幅图说明同一个问题。左边是参考结构，中间漏掉了细分支，右边多出了错误结构。在视野相同的情况下，遗漏会减少测到的血管面积，误检则可能增加它。所以不能只看模型找回多少血管，还要看有没有把背景认错，以及密度和人工标注相比差多少。这里的密度指血管面积占有效眼底视野的比例，不是 OCTA 的灌注指标；图片也只是示意，不是新的实验结果。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Zhou Y, Xu M, Hu Y, et al. CF-Loss: Clinically-relevant feature optimised loss function for retinal multi-class vessel segmentation and vascular feature measurement. Medical Image Analysis, 2024, 93:103098. https://doi.org/10.1016/j.media.2024.103098</a:t>
            </a:r>
          </a:p>
          <a:p xmlns:a="http://schemas.openxmlformats.org/drawingml/2006/main">
            <a:r>
              <a:t>[7] Zhou Y, Wagner S K, Chia M A, et al. AutoMorph: Automated Retinal Vascular Morphology Quantification Via a Deep Learning Pipeline. Translational Vision Science &amp; Technology, 2022, 11(7):12. https://doi.org/10.1167/tvst.11.7.12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接下来的路线分四步。M0 已经完成；然后尝试 SRL 等已有结构监督；再分析病灶附近的问题，开展局部加权；最后在保留图像和其他数据集上测试。关键是公平比较：两组使用相同数据、相同起点和配对训练预算，只改变局部权重。这样才能分清，改善是因为多用了数据，还是病灶引导确实有用。评价时也会同时看误检、整体效果和其他数据集上的表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Kirchhoff Y, Rokuss M R, Roy S, et al. Skeleton Recall Loss for Connectivity Conserving and Resource Efficient Segmentation of Thin Tubular Structures. ECCV, 2024. https://arxiv.org/abs/2404.03010</a:t>
            </a:r>
          </a:p>
          <a:p xmlns:a="http://schemas.openxmlformats.org/drawingml/2006/main">
            <a:r>
              <a:t>[5] Lepetit-Aimon G, Playout C, Boucher M C, et al. MAPLES-DR: MESSIDOR Anatomical and Pathological Labels for Explainable Screening of Diabetic Retinopathy. Scientific Data, 2024, 11:914. https://doi.org/10.1038/s41597-024-03739-6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MAPLES-DR 共 198 张图像，提供同图血管和病灶标注，官方划分为 138 张训练、60 张测试。相关压缩包已经下载并检查完整性，接下来还要核对原图与标注的对应、重复图像和划分。因为我们准备使用 MAPLES 训练，还要选一个没参与训练的数据集检查效果。候选包括 40 张图像的 DRIVE，以及 14 名儿童双眼、共 28 张图像的 CHASE_DB1。它们的评价协议还需要核对，儿童数据也不能代替糖网病验证。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[1] Jin K, Huang X, Zhou J, et al. FIVES: A Fundus Image Dataset for Artificial Intelligence based Vessel Segmentation. Scientific Data, 2022, 9:475. https://doi.org/10.1038/s41597-022-01564-3</a:t>
            </a:r>
          </a:p>
          <a:p xmlns:a="http://schemas.openxmlformats.org/drawingml/2006/main">
            <a:r>
              <a:t>[5] Lepetit-Aimon G, Playout C, Boucher M C, et al. MAPLES-DR: MESSIDOR Anatomical and Pathological Labels for Explainable Screening of Diabetic Retinopathy. Scientific Data, 2024, 11:914. https://doi.org/10.1038/s41597-024-03739-6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验证分成三步。先在开发数据上规定病灶范围、阈值和方法；再在 MAPLES 保留测试图像上比较两组模型；最后到未参与训练的数据集检查效果是否稳定。比较时使用同一批图像，逐图计算差异并给出区间估计。我们希望说明改善发生在哪里，也要报告误检或整体表现有没有变差。如果加权没有额外帮助，也会如实保留结果，再调整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这里列出了本次汇报引用的九项文献，完整链接放在讲稿和备注中。它们分别支持数据选择、方法设计、形态量化和临床背景。第八项是 2026 年上线的期刊预校样，我们只使用其中的关联结论。以上就是我们小组目前完成的基础工作，以及接下来准备验证的方向。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[1] Jin K, Huang X, Zhou J, et al. FIVES: A Fundus Image Dataset for Artificial Intelligence based Vessel Segmentation. Scientific Data, 2022, 9:475. https://doi.org/10.1038/s41597-022-01564-3</a:t>
            </a:r>
          </a:p>
          <a:p xmlns:a="http://schemas.openxmlformats.org/drawingml/2006/main">
            <a:r>
              <a:t>[2] Fadugba J, Köhler P, Koch L, et al. Benchmarking Retinal Blood Vessel Segmentation Models for Cross-Dataset and Cross-Disease Generalization. arXiv, 2024. https://arxiv.org/abs/2406.14994</a:t>
            </a:r>
          </a:p>
          <a:p xmlns:a="http://schemas.openxmlformats.org/drawingml/2006/main">
            <a:r>
              <a:t>[3] Kirchhoff Y, Rokuss M R, Roy S, et al. Skeleton Recall Loss for Connectivity Conserving and Resource Efficient Segmentation of Thin Tubular Structures. ECCV, 2024. https://arxiv.org/abs/2404.03010</a:t>
            </a:r>
          </a:p>
          <a:p xmlns:a="http://schemas.openxmlformats.org/drawingml/2006/main">
            <a:r>
              <a:t>[4] Zhou Y, Xu M, Hu Y, et al. CF-Loss: Clinically-relevant feature optimised loss function for retinal multi-class vessel segmentation and vascular feature measurement. Medical Image Analysis, 2024, 93:103098. https://doi.org/10.1016/j.media.2024.103098</a:t>
            </a:r>
          </a:p>
          <a:p xmlns:a="http://schemas.openxmlformats.org/drawingml/2006/main">
            <a:r>
              <a:t>[5] Lepetit-Aimon G, Playout C, Boucher M C, et al. MAPLES-DR: MESSIDOR Anatomical and Pathological Labels for Explainable Screening of Diabetic Retinopathy. Scientific Data, 2024, 11:914. https://doi.org/10.1038/s41597-024-03739-6</a:t>
            </a:r>
          </a:p>
          <a:p xmlns:a="http://schemas.openxmlformats.org/drawingml/2006/main">
            <a:r>
              <a:t>[6] Lyu X, Cheng L, Zhang S. The RETA Benchmark for Retinal Vascular Tree Analysis. Scientific Data, 2022, 9:397. https://doi.org/10.1038/s41597-022-01507-y</a:t>
            </a:r>
          </a:p>
          <a:p xmlns:a="http://schemas.openxmlformats.org/drawingml/2006/main">
            <a:r>
              <a:t>[7] Zhou Y, Wagner S K, Chia M A, et al. AutoMorph: Automated Retinal Vascular Morphology Quantification Via a Deep Learning Pipeline. Translational Vision Science &amp; Technology, 2022, 11(7):12. https://doi.org/10.1167/tvst.11.7.12</a:t>
            </a:r>
          </a:p>
          <a:p xmlns:a="http://schemas.openxmlformats.org/drawingml/2006/main">
            <a:r>
              <a:t>[8] Deep learning-derived retinal vascular morphology and incident treatment for sight-threatening diabetic retinopathy. Ophthalmology Science, 2026, 101385 (journal pre-proof, online 26 August). https://doi.org/10.1016/j.xops.2026.101385</a:t>
            </a:r>
          </a:p>
          <a:p xmlns:a="http://schemas.openxmlformats.org/drawingml/2006/main">
            <a:r>
              <a:t>[9] American Diabetes Association Professional Practice Committee for Diabetes. 12. Retinopathy, Neuropathy, and Foot Care: Standards of Care in Diabetes—2026. Diabetes Care, 2026. https://doi.org/10.2337/dc26-s012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dd2b56514d4c4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ff3448f0e9432a" /><Relationship Type="http://schemas.openxmlformats.org/officeDocument/2006/relationships/slideLayout" Target="/ppt/slideLayouts/slideLayout1.xml" Id="R7aea3ea756bd4aa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ea3ea756bd4aac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fe8c632084705" /><Relationship Type="http://schemas.openxmlformats.org/officeDocument/2006/relationships/image" Target="/ppt/media/image.png" Id="R7b7cf35f72764fb8" /><Relationship Type="http://schemas.openxmlformats.org/officeDocument/2006/relationships/notesSlide" Target="/ppt/notesSlides/notesSlide1.xml" Id="R897488ed928249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aa60fd2f6409f" /><Relationship Type="http://schemas.openxmlformats.org/officeDocument/2006/relationships/image" Target="/ppt/media/image2.png" Id="Rc26dedde6f7246dc" /><Relationship Type="http://schemas.openxmlformats.org/officeDocument/2006/relationships/image" Target="/ppt/media/image3.png" Id="Rc9fbef930dab48ec" /><Relationship Type="http://schemas.openxmlformats.org/officeDocument/2006/relationships/notesSlide" Target="/ppt/notesSlides/notesSlide2.xml" Id="Rd79ea43f837640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db09533634207" /><Relationship Type="http://schemas.openxmlformats.org/officeDocument/2006/relationships/chart" Target="/ppt/slides/charts/chart1.xml" Id="R114398a6c8c34343" /><Relationship Type="http://schemas.openxmlformats.org/officeDocument/2006/relationships/notesSlide" Target="/ppt/notesSlides/notesSlide3.xml" Id="R9fdd238e5f8949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b51d3cf294575" /><Relationship Type="http://schemas.openxmlformats.org/officeDocument/2006/relationships/chart" Target="/ppt/slides/charts/chart2.xml" Id="Rf8f6b2a83a90436e" /><Relationship Type="http://schemas.openxmlformats.org/officeDocument/2006/relationships/notesSlide" Target="/ppt/notesSlides/notesSlide4.xml" Id="Rf6e8c8c8e7254a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57351dce64f23" /><Relationship Type="http://schemas.openxmlformats.org/officeDocument/2006/relationships/notesSlide" Target="/ppt/notesSlides/notesSlide5.xml" Id="R87b24fcbdc4840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659796b0942e2" /><Relationship Type="http://schemas.openxmlformats.org/officeDocument/2006/relationships/image" Target="/ppt/media/image4.png" Id="Rc914c1e774974116" /><Relationship Type="http://schemas.openxmlformats.org/officeDocument/2006/relationships/notesSlide" Target="/ppt/notesSlides/notesSlide6.xml" Id="R4cdb647c124c49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da3d4797f4a8c" /><Relationship Type="http://schemas.openxmlformats.org/officeDocument/2006/relationships/notesSlide" Target="/ppt/notesSlides/notesSlide7.xml" Id="R03e15136e6e147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575397b704b00" /><Relationship Type="http://schemas.openxmlformats.org/officeDocument/2006/relationships/image" Target="/ppt/media/image5.png" Id="R7444fbaad68d4fbb" /><Relationship Type="http://schemas.openxmlformats.org/officeDocument/2006/relationships/image" Target="/ppt/media/image6.png" Id="R25efe00468b34f13" /><Relationship Type="http://schemas.openxmlformats.org/officeDocument/2006/relationships/image" Target="/ppt/media/image7.png" Id="R89a802ada9d043fc" /><Relationship Type="http://schemas.openxmlformats.org/officeDocument/2006/relationships/notesSlide" Target="/ppt/notesSlides/notesSlide8.xml" Id="R639a5840ca694d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58e9848554169" /><Relationship Type="http://schemas.openxmlformats.org/officeDocument/2006/relationships/notesSlide" Target="/ppt/notesSlides/notesSlide9.xml" Id="Re6a9510fb42142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05b6ff6db422e" /><Relationship Type="http://schemas.openxmlformats.org/officeDocument/2006/relationships/notesSlide" Target="/ppt/notesSlides/notesSlide10.xml" Id="Rf500ab9699b64d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800dc65e24dbf" /><Relationship Type="http://schemas.openxmlformats.org/officeDocument/2006/relationships/notesSlide" Target="/ppt/notesSlides/notesSlide11.xml" Id="R76b7bab05af84b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1a5b1f4694dc2" /><Relationship Type="http://schemas.openxmlformats.org/officeDocument/2006/relationships/notesSlide" Target="/ppt/notesSlides/notesSlide12.xml" Id="Rf54504d84c98407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整体 Dice</c:v>
          </c:tx>
          <c:spPr>
            <a:ln xmlns:a="http://schemas.openxmlformats.org/drawingml/2006/main" w="28575">
              <a:solidFill>
                <a:srgbClr val="102F59"/>
              </a:solidFill>
            </a:ln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2,500</c:v>
                </c:pt>
                <c:pt idx="1">
                  <c:v>5,000</c:v>
                </c:pt>
                <c:pt idx="2">
                  <c:v>7,500</c:v>
                </c:pt>
                <c:pt idx="3">
                  <c:v>10,000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0.81189404</c:v>
                </c:pt>
                <c:pt idx="1">
                  <c:v>0.88435746</c:v>
                </c:pt>
                <c:pt idx="2">
                  <c:v>0.90097564</c:v>
                </c:pt>
                <c:pt idx="3">
                  <c:v>0.90848</c:v>
                </c:pt>
              </c:numCache>
            </c:numRef>
          </c:val>
        </c:ser>
        <c:ser>
          <c:idx val="1"/>
          <c:order val="1"/>
          <c:tx>
            <c:v>细血管召回 d1</c:v>
          </c:tx>
          <c:spPr>
            <a:ln xmlns:a="http://schemas.openxmlformats.org/drawingml/2006/main" w="28575">
              <a:solidFill>
                <a:srgbClr val="B52442"/>
              </a:solidFill>
            </a:ln>
          </c:spPr>
          <c:marker>
            <c:symbol val="none"/>
          </c:marker>
          <c:cat>
            <c:strRef>
              <c:f>'Chart Data'!$C$2:$C$5</c:f>
              <c:strCache>
                <c:ptCount val="4"/>
                <c:pt idx="0">
                  <c:v>2,500</c:v>
                </c:pt>
                <c:pt idx="1">
                  <c:v>5,000</c:v>
                </c:pt>
                <c:pt idx="2">
                  <c:v>7,500</c:v>
                </c:pt>
                <c:pt idx="3">
                  <c:v>10,000</c:v>
                </c:pt>
              </c:strCache>
            </c:strRef>
          </c:cat>
          <c:val>
            <c:numRef>
              <c:f>'Chart Data'!$D$2:$D$5</c:f>
              <c:numCache>
                <c:formatCode>0%</c:formatCode>
                <c:ptCount val="4"/>
                <c:pt idx="0">
                  <c:v>0.48000323</c:v>
                </c:pt>
                <c:pt idx="1">
                  <c:v>0.65357808</c:v>
                </c:pt>
                <c:pt idx="2">
                  <c:v>0.73208399</c:v>
                </c:pt>
                <c:pt idx="3">
                  <c:v>0.733136</c:v>
                </c:pt>
              </c:numCache>
            </c:numRef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525E6F"/>
                    </a:solidFill>
                    <a:latin typeface="微软雅黑"/>
                    <a:ea typeface="微软雅黑"/>
                    <a:cs typeface="微软雅黑"/>
                  </a:rPr>
                  <a:t>训练步数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525E6F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8EF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  <c:majorUnit val="0.2"/>
      </c:valAx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102F59"/>
              </a:solidFill>
              <a:latin typeface="微软雅黑"/>
              <a:ea typeface="微软雅黑"/>
              <a:cs typeface="微软雅黑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不同疾病组的细血管召回率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02F59"/>
              </a:solidFill>
              <a:latin typeface="微软雅黑"/>
              <a:ea typeface="微软雅黑"/>
              <a:cs typeface="微软雅黑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细血管召回 d1</c:v>
          </c:tx>
          <c:spPr>
            <a:solidFill xmlns:a="http://schemas.openxmlformats.org/drawingml/2006/main">
              <a:srgbClr val="102F59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B52442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黄斑变性 (28)</c:v>
                </c:pt>
                <c:pt idx="1">
                  <c:v>糖网病 (30)</c:v>
                </c:pt>
                <c:pt idx="2">
                  <c:v>青光眼 (30)</c:v>
                </c:pt>
                <c:pt idx="3">
                  <c:v>正常 (30)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71.52</c:v>
                </c:pt>
                <c:pt idx="1">
                  <c:v>68.45</c:v>
                </c:pt>
                <c:pt idx="2">
                  <c:v>70.43</c:v>
                </c:pt>
                <c:pt idx="3">
                  <c:v>82.75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02F59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8EE"/>
              </a:solidFill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  <c:majorUnit val="20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AB898-267D-474A-B27E-2F56DAE2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糖网病病灶引导的眼底血管分割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09017-A6C7-40B9-A403-4EB7AC8C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从眼底图像出发，研究血管结构能否被准确提取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051B8-9083-4188-B140-818C72F5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452437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cf35f72764fb8"/>
          <a:stretch xmlns:a="http://schemas.openxmlformats.org/drawingml/2006/main"/>
        </p:blipFill>
        <p:spPr>
          <a:xfrm xmlns:a="http://schemas.openxmlformats.org/drawingml/2006/main">
            <a:off x="1257300" y="1562100"/>
            <a:ext cx="3143250" cy="3143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F7EA1-0E25-4DB0-8541-68ACADB0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一张眼底照片中，可以观察到分支状的血管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7FA3B-8D89-4468-B970-7913CF83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381125"/>
            <a:ext cx="6219825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FC311-518F-4C95-B782-2908CD6E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571625"/>
            <a:ext cx="5800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临床背景：眼底图像用于糖网病评估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FF69D-E3B0-4160-947C-CF700C67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019300"/>
            <a:ext cx="58007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糖网病评估关注出血、渗出等病灶。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血管形态也是可以从图像中提取的研究信息，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可为后续量化分析提供基础。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F7514-3CA4-4030-9FC8-EE66D921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286125"/>
            <a:ext cx="62198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D6DC0-62C9-4112-9E96-DA18FAD0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476625"/>
            <a:ext cx="5800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项目落点：先把血管可靠地提取出来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D9E31-DD52-4AC7-BC2B-3B288A18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924300"/>
            <a:ext cx="580072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要测量血管密度等形态特征，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首先需要知道图像中哪些像素属于血管。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细血管遗漏或背景误检，都可能影响测量。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7095C1-95F2-43D6-87CB-377DB6BE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95925"/>
            <a:ext cx="1104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5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800E3-7D33-464E-A41C-C885F644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29275"/>
            <a:ext cx="10639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因此，我们先训练一个基础模型，再从它的不足中提出改进方向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F98E5F-EB5C-4DC0-915E-9AC543F6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rPr>
              <a:t>图像：FIVES [1] · 背景：[7,9]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BAA88C-A7ED-4BF3-A3E1-0E403122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555966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90304D9-D1AB-4E13-84A6-52A051E7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已有基础：数据、训练与血管提取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23E4633-8F4C-4E98-9A73-BA11A0DF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先用公开数据训练基础模型，再看它还有哪些不足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153934B-F016-4104-B152-B30DF0E3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71600"/>
            <a:ext cx="5486400" cy="196596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05E4CC2-E389-4699-BB8D-13BD194F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847088"/>
            <a:ext cx="502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任务：从照片中提取血管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EF3E4B1-1714-48CC-ACC1-573207F2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231136"/>
            <a:ext cx="5029200" cy="923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输入：一张彩色眼底照片。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模型逐像素判断血管位置，形成掩膜。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后续可计算血管密度等形态特征，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并检查这些测量是否可靠。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33CC78-F4C2-4FA0-9611-17B49B71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0440"/>
            <a:ext cx="5486400" cy="196596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8C34C4F-5C8B-440F-B0FE-797080BC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995928"/>
            <a:ext cx="502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用 FIVES 训练基础模型 M0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33159D7-1BA2-4C80-96BD-66EDD05A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379976"/>
            <a:ext cx="5029200" cy="923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FIVES：800 张，官方训练／测试 600／200。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本地开发：训练 470，开发 118，暂缓 12。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U-Net + BCE／Dice 损失，训练 10,000 步。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已跑通训练、整图预测和分层评价。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C1ACBE1-F431-4024-93A1-4EE236C9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371600"/>
            <a:ext cx="5297119" cy="411480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3F5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8C09C1A-8021-4E2F-ACD7-6C5EABF6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371600"/>
            <a:ext cx="4931359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dedde6f7246dc"/>
          <a:stretch xmlns:a="http://schemas.openxmlformats.org/drawingml/2006/main"/>
        </p:blipFill>
        <p:spPr>
          <a:xfrm xmlns:a="http://schemas.openxmlformats.org/drawingml/2006/main">
            <a:off x="6543675" y="2009775"/>
            <a:ext cx="2286000" cy="2286000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bef930dab48ec"/>
          <a:stretch xmlns:a="http://schemas.openxmlformats.org/drawingml/2006/main"/>
        </p:blipFill>
        <p:spPr>
          <a:xfrm xmlns:a="http://schemas.openxmlformats.org/drawingml/2006/main">
            <a:off x="9086850" y="2009775"/>
            <a:ext cx="2286000" cy="22860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C8EF70-E93B-4966-B5EB-D557E54D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原始眼底照片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04DB6C-25AB-4D28-BE9A-B69246B3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7162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人工血管标注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996B80-2912-4F2C-AA90-F5DCE67F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524375"/>
            <a:ext cx="4838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模型学习照片与血管标注之间的对应关系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当前基础功能：自动提取血管并评价误差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进一步研究：细血管与病灶附近的提取质量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90C87C-C769-4E7F-BCF3-DD6E2C6A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rPr>
              <a:t>数据：FIVES [1] · 右图为人工标注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2B3CFF-0702-41FB-9986-71AC5583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8595316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DDE378-93B0-45A7-AB01-73615C1E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基础模型的训练流程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4D00DB6-3CB6-42D2-9289-72AF96B6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局部图像用于学习，整图结果用于评价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288E2-C22B-4AA0-BBF3-51211FCC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0175"/>
            <a:ext cx="25050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382E0-FA25-4427-B34A-3A09B406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525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眼底照片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5D113-CA2C-4FF5-A22A-241DE232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与血管标注配对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AEC57-0EF5-45CE-B19B-344BBD94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7145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19B07-E396-4DE6-8057-0232A54E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400175"/>
            <a:ext cx="25050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06C02-E240-4893-9B69-BEC4A363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5525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局部采样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047CD-59F4-4464-828C-2A3CEAEF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9812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训练时学习局部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7F0949-80DA-4452-B7ED-CFE0E534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145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B9170-CD32-4485-8DF2-AA7D207A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00175"/>
            <a:ext cx="25050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5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9C2A3F-1FD9-43B6-AE41-E8AE9496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525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U-Net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D6FA62-AD4C-4284-B29D-1E734153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812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DBE3E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DBE3EE"/>
                </a:solidFill>
                <a:latin typeface="微软雅黑"/>
                <a:ea typeface="微软雅黑"/>
                <a:cs typeface="微软雅黑"/>
              </a:rPr>
              <a:t>BCE + Dice 监督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76F262-13CD-498D-95F5-BB9C076B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7145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4B3EA3-3F29-4043-A7CD-0A73408A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400175"/>
            <a:ext cx="25050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EC3D74-2A47-48EB-A59F-566F3721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5525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整图预测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A33EFB-C0E9-444F-87F0-4568C1E8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9812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拼接并输出掩膜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8DE90D-6D9C-46B2-BFCA-38C7B4EF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38425"/>
            <a:ext cx="42100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DEF064-29A5-4C56-A535-2900A679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28925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已完成 10,000 步训练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E13B1A-6A1C-4ECF-B52B-4F039AB2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76600"/>
            <a:ext cx="37909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整体 Dice 与细血管召回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随训练推进逐步提高。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t/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最终模型仍存在细血管遗漏，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需要进一步比较不同疾病组。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013788-9800-4ABA-A6A3-4D89B624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rPr>
              <a:t>M0 本地开发记录 · 相同 118 张图像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839E6F-8921-4004-9B00-1BBF49FB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rPr>
              <a:t>03 / 12</a:t>
            </a:r>
          </a:p>
        </p:txBody>
      </p:sp>
      <p:graphicFrame>
        <p:nvGraphicFramePr>
          <p:cNvPr id="54" name="Chart"/>
          <p:cNvGraphicFramePr/>
          <p:nvPr/>
        </p:nvGraphicFramePr>
        <p:xfrm>
          <a:off xmlns:a="http://schemas.openxmlformats.org/drawingml/2006/main" x="571500" y="2638425"/>
          <a:ext xmlns:a="http://schemas.openxmlformats.org/drawingml/2006/main" cx="6572250" cy="3162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4398a6c8c34343"/>
          </a:graphicData>
        </a:graphic>
      </p:graphicFrame>
    </p:spTree>
    <p:extLst>
      <p:ext uri="{BB962C8B-B14F-4D97-AF65-F5344CB8AC3E}">
        <p14:creationId xmlns:p14="http://schemas.microsoft.com/office/powerpoint/2010/main" val="12873668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2DB37E3-A086-4F1B-8CAE-3479FF28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M0 结果：糖网病组细血管召回偏低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A3912CA-6F1C-4DB9-B445-7D402BE1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开发集观察提示局部遗漏问题，具体原因仍需进一步分析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0265172-FD96-45CA-96CA-7231403F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71600"/>
            <a:ext cx="5486400" cy="196596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32B75C1-E773-4965-92F3-FA11DBCA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847088"/>
            <a:ext cx="502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总体 Dice 90.85%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A25AAEA-E2C8-434F-844D-4683BEC7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231136"/>
            <a:ext cx="5029200" cy="923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细血管召回（d1）：73.31%。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糖网病组：68.45%；正常组：82.75%。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糖网病组比正常组低 14.30 个百分点。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提示需要进一步分析局部遗漏。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D4A6B3B-8D34-45D1-82D8-3F5AC060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0440"/>
            <a:ext cx="5486400" cy="196596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ED43959-13F9-4524-9BD3-E6C77D8F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4857750" cy="542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糖网病病灶引导的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眼底血管分割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648E3AE-4B1E-4491-9A0D-1DD0E087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4857750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先用病灶标注定位局部误差，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再检验邻域加权能否减少漏检。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疾病组差异尚不能归因于病灶。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B5E0155-2161-437A-B57B-1DBC672A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371600"/>
            <a:ext cx="5297119" cy="4114800"/>
          </a:xfrm>
          <a:prstGeom xmlns:a="http://schemas.openxmlformats.org/drawingml/2006/main" prst="roundRect">
            <a:avLst>
              <a:gd name="adj" fmla="val 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C5F4D42-34CA-40FD-A742-F2B70E64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371600"/>
            <a:ext cx="4931359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343820-3E71-4E65-93AD-DE11D7D5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197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括号内为图像数；分组差异尚未排除图像质量等影响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C23CC4-9ACB-487E-AB46-6A58FB7C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rPr>
              <a:t>M0 开发集 · 单种子 · 阈值 0.5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0CBFBA-5F82-490F-88C6-4D6397D7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rPr>
              <a:t>04 / 12</a:t>
            </a:r>
          </a:p>
        </p:txBody>
      </p:sp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6381750" y="1495425"/>
          <a:ext xmlns:a="http://schemas.openxmlformats.org/drawingml/2006/main" cx="5124450" cy="36290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f6b2a83a90436e"/>
          </a:graphicData>
        </a:graphic>
      </p:graphicFrame>
    </p:spTree>
    <p:extLst>
      <p:ext uri="{BB962C8B-B14F-4D97-AF65-F5344CB8AC3E}">
        <p14:creationId xmlns:p14="http://schemas.microsoft.com/office/powerpoint/2010/main" val="11610249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C4FC547-5420-4C8C-A8FB-A764F4DB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文献调查：结构监督与形态准确性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1B91FFD-5521-4E9C-898E-04921807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借鉴已有方法，进一步研究病灶附近的血管提取</a:t>
            </a:r>
          </a:p>
        </p:txBody>
      </p:sp>
      <p:graphicFrame>
        <p:nvGraphicFramePr>
          <p:cNvPr id="20" name="Table 0"/>
          <p:cNvGraphicFramePr/>
          <p:nvPr/>
        </p:nvGraphicFramePr>
        <p:xfrm>
          <a:off xmlns:a="http://schemas.openxmlformats.org/drawingml/2006/main" x="566928" y="1371600"/>
          <a:ext xmlns:a="http://schemas.openxmlformats.org/drawingml/2006/main" cx="11057839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2133600"/>
                <a:gridCol w="2190750"/>
                <a:gridCol w="2390775"/>
                <a:gridCol w="2190750"/>
              </a:tblGrid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代表文献</a:t>
                      </a:r>
                      <a:endParaRPr sz="11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102F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已有努力</a:t>
                      </a:r>
                      <a:endParaRPr sz="11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102F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主要证据／资源</a:t>
                      </a:r>
                      <a:endParaRPr sz="11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102F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对我们的启发</a:t>
                      </a:r>
                      <a:endParaRPr sz="11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102F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仍需验证</a:t>
                      </a:r>
                      <a:endParaRPr sz="11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102F5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Fadugba 等 [2]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跨数据／疾病，2024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比较多种模型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与跨域表现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跨疾病迁移通常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可行，质量很关键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先排查质量影响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保留简单模型对照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本地糖网病差异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能否稳定复现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Skeleton Recall [3]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ECCV 2024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用真实骨架监督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细管状结构召回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兼顾连接性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与计算资源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复用已有结构损失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作为下一步基线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细血管改善时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假阳性是否增加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CF-Loss [4]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MedIA 2024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用密度等形态特征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参与损失优化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像素得分与形态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精度不一定一致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同时评价血管掩膜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和测量误差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其多类任务收益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能否迁移到本任务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MAPLES-DR [5]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Scientific Data 2024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提供同图血管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与病灶标注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198 张图像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支持区域分析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由病灶位置定义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局部评价和监督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局部加权能否优于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同数据均匀训练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D5795558-0745-41AF-88D1-93A277A6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9650"/>
            <a:ext cx="11049000" cy="9144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DF1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E960495-8FC9-423D-9E13-A9C1D0DB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我们的思路：按病灶位置评价，再比较局部加权是否有效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5FAFE79-3DFD-468D-BCC2-A684409C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745736"/>
            <a:ext cx="10600639" cy="694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DC5D0D-A94F-47CA-83D4-9CAD99CC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rPr>
              <a:t>代表性文献：[2–5]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81A720-B092-4C0D-B671-E1456034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20612329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CF2C3B2-6ABB-4A59-9553-20FFDBA2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病灶引导：让模型多关注病灶附近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244FDE2-C22C-4988-8979-47E1C17A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病灶标注帮助训练与评价，使用时只输入眼底照片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28FEE2-0569-43E2-9F30-F282A77C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3752850" cy="3743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497EF6-F424-44A7-ACDF-D59A3B05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3124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血管（浅色）  病灶（红色）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病灶邻域 ROI（黄色框）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FA3363-778C-4DEE-A590-11AFDDDE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09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B6DB41-0FB1-44D7-BFF8-4040EEDC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14475"/>
            <a:ext cx="3019425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643EA9-E7FE-4FE1-8A8F-A601E96C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704975"/>
            <a:ext cx="2600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定义病灶邻域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30A078-52D0-4B26-B95C-2EA21F86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152650"/>
            <a:ext cx="26003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由病灶标注确定范围，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提前规定邻域范围。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先比较局部与其他区域。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4DAB2A-266C-4682-B736-A4DF9A67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14475"/>
            <a:ext cx="3190875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433BD1-2BD3-46CB-BDB0-F29A3305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704975"/>
            <a:ext cx="277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调整训练权重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C1E33E-C36E-4560-B608-FBCF808D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152650"/>
            <a:ext cx="27717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邻域内：加强血管监督。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邻域外：保留正常监督。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血管答案仍是真实标注。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FFBB61-BD6F-4562-ABA6-24ED1166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19475"/>
            <a:ext cx="652462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5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886431-89FF-46C6-B3B9-4891536F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29025"/>
            <a:ext cx="604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预测时只输入照片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A875F8-F502-4110-BBF6-32583B94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86225"/>
            <a:ext cx="60483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DBE3E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DBE3EE"/>
                </a:solidFill>
                <a:latin typeface="微软雅黑"/>
                <a:ea typeface="微软雅黑"/>
                <a:cs typeface="微软雅黑"/>
              </a:rPr>
              <a:t>输入眼底图像 → 模型 → 血管掩膜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DBE3E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DBE3EE"/>
                </a:solidFill>
                <a:latin typeface="微软雅黑"/>
                <a:ea typeface="微软雅黑"/>
                <a:cs typeface="微软雅黑"/>
              </a:rPr>
              <a:t>病灶标注帮助训练与评价，不要求使用者先画病灶。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DBE3E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DBE3EE"/>
                </a:solidFill>
                <a:latin typeface="微软雅黑"/>
                <a:ea typeface="微软雅黑"/>
                <a:cs typeface="微软雅黑"/>
              </a:rPr>
              <a:t>能否减少局部遗漏，要用同数据对照来回答。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DDD83E-6236-4CAC-91A4-3AB1BDDC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400675"/>
            <a:ext cx="1101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研究假设：改善邻域内血管召回，同时控制误检与形态误差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4A620F-6219-4A9D-8F1C-F5CD5615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rPr>
              <a:t>方法示意 · 尚待实验验证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AC46CC-03F1-44AE-AE89-0346B1AD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rPr>
              <a:t>06 / 12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14c1e774974116"/>
          <a:stretch xmlns:a="http://schemas.openxmlformats.org/drawingml/2006/main"/>
        </p:blipFill>
        <p:spPr>
          <a:xfrm xmlns:a="http://schemas.openxmlformats.org/drawingml/2006/main">
            <a:off x="981075" y="1666875"/>
            <a:ext cx="2914650" cy="2914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1948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2C9A77C-CB7A-4484-B573-8DFE7CA5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临床意义：让血管测量更准确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340E26D-70F9-47B0-B37A-DD11CCE2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减少遗漏和误检，为后续形态分析提供更可靠的输入</a:t>
            </a:r>
          </a:p>
        </p:txBody>
      </p:sp>
      <p:graphicFrame>
        <p:nvGraphicFramePr>
          <p:cNvPr id="20" name="Table 0"/>
          <p:cNvGraphicFramePr/>
          <p:nvPr/>
        </p:nvGraphicFramePr>
        <p:xfrm>
          <a:off xmlns:a="http://schemas.openxmlformats.org/drawingml/2006/main" x="566928" y="1417320"/>
          <a:ext xmlns:a="http://schemas.openxmlformats.org/drawingml/2006/main" cx="11057839" cy="237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524125"/>
                <a:gridCol w="3190875"/>
                <a:gridCol w="323850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量化环节的不足</a:t>
                      </a:r>
                      <a:endParaRPr sz="11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102F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可能影响什么</a:t>
                      </a:r>
                      <a:endParaRPr sz="11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102F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本工作拟验证的贡献</a:t>
                      </a:r>
                      <a:endParaRPr sz="11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102F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后续临床研究用途</a:t>
                      </a:r>
                      <a:endParaRPr sz="11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102F5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细分支遗漏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血管面积密度可能偏低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细结构信息丢失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减少局部漏检，并检查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密度相对标注的误差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让随访形态变化的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测量基础更稳定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背景误检／错误连接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密度可能偏高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连接和形态失真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同时约束假阳性，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检查连续性与测量误差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减少伪结构对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自动分析的干扰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图像质量／设备变化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同一方法换数据后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表现可能波动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分层评价质量影响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保留新的测试数据集验证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为适用范围和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人工复核提供依据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像素分数不等于临床效益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 Dice 未必意味着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形态或风险判断准确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比较掩膜质量及量化误差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建立可追溯的证据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为后续风险关联研究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7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提供较可靠的输入</a:t>
                      </a:r>
                      <a:endParaRPr sz="110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4864" marR="54864" marT="54864" marB="54864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F5F2376-5BF5-45EA-8844-0C43AB82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77640"/>
            <a:ext cx="11057839" cy="150876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F1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E5F6765-CB23-49FD-9635-2DDFE7D7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53128"/>
            <a:ext cx="106006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血管形态已与糖网病后续治疗风险建立关联 [8]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9EE14E8-E8F5-441B-9D10-8F4C20DD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37176"/>
            <a:ext cx="10600639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2026 年纵向研究纳入 20,855 人；观察到形态与后续威胁视力糖网病治疗的关联。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我们先验证分割与量化误差能否减少；血管密度不能单独代替糖网病诊断。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E77F0-CA91-48DA-BD7A-043C2EE4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rPr>
              <a:t>文献依据：[4,6–9] · 临床用途有待验证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8E4979-FC37-4577-937C-C77BAC25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7881128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DDE378-93B0-45A7-AB01-73615C1E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血管分错了，密度测量也会受影响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4D00DB6-3CB6-42D2-9289-72AF96B6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找回更多血管的同时，需要检查假阳性与测量偏差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D79C7-80F5-4096-B593-95F20A20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82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参考结构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4fbaad68d4fbb"/>
          <a:stretch xmlns:a="http://schemas.openxmlformats.org/drawingml/2006/main"/>
        </p:blipFill>
        <p:spPr>
          <a:xfrm xmlns:a="http://schemas.openxmlformats.org/drawingml/2006/main">
            <a:off x="571500" y="1962150"/>
            <a:ext cx="3048000" cy="23336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CF30E-2E5E-4A64-8694-F9A6F795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672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以人工标注作为参考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0C2A9B-BEB8-425A-BF82-DC05584C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382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细分支遗漏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fe00468b34f13"/>
          <a:stretch xmlns:a="http://schemas.openxmlformats.org/drawingml/2006/main"/>
        </p:blipFill>
        <p:spPr>
          <a:xfrm xmlns:a="http://schemas.openxmlformats.org/drawingml/2006/main">
            <a:off x="4572000" y="1962150"/>
            <a:ext cx="3048000" cy="23336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A3C5C1-73DD-40FD-BD1A-99203A77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672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面积减少，密度可能偏低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1B866D-7E27-4170-A2BA-CEA8A73C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382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误检与错误连接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802ada9d043fc"/>
          <a:stretch xmlns:a="http://schemas.openxmlformats.org/drawingml/2006/main"/>
        </p:blipFill>
        <p:spPr>
          <a:xfrm xmlns:a="http://schemas.openxmlformats.org/drawingml/2006/main">
            <a:off x="8572500" y="1962150"/>
            <a:ext cx="3048000" cy="233362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E07C5-A6EB-49E3-A4BF-C3A65FB1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672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伪结构增加，测量可能失真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D9F689-51F1-4829-9642-0E3A0BAE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0175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5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FB0F9B-1005-4D87-95C9-E99A7FE6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816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评价组合：局部召回 + 假阳性 + 血管密度误差，一起判断改进效果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FEDEB1-3AB5-438B-82F4-32FCE6A3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rPr>
              <a:t>概念示意 · 不含模型实验数值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9EFC9F-7B09-4B9E-A34B-B58CB40A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12873668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4DEB55F-BE18-4336-9720-6BAC1F0A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路线演进：基础模型到病灶引导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A1A70B9-0F78-44AF-B1D6-CBD8B10C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M0 已完成；结构对照、病灶引导和外部验证为后续工作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69EED6D-A378-400D-BD95-98D86522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2613584" cy="1828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0F2B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175DFBD-4F5A-4A88-A92A-E3BB94E0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45336"/>
            <a:ext cx="224782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CBD5E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CBD5E5"/>
                </a:solidFill>
                <a:latin typeface="微软雅黑"/>
                <a:ea typeface="微软雅黑"/>
                <a:cs typeface="微软雅黑"/>
              </a:rPr>
              <a:t>已完成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E2D6F62-B144-4821-9851-EF577C33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01368"/>
            <a:ext cx="22478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基础模型 M0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1CF1FB6-D593-4C38-A87B-3BBB8F87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130552"/>
            <a:ext cx="2247824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DBE3E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DBE3EE"/>
                </a:solidFill>
                <a:latin typeface="微软雅黑"/>
                <a:ea typeface="微软雅黑"/>
                <a:cs typeface="微软雅黑"/>
              </a:rPr>
              <a:t>FIVES 训练 U-Net。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DBE3E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DBE3EE"/>
                </a:solidFill>
                <a:latin typeface="微软雅黑"/>
                <a:ea typeface="微软雅黑"/>
                <a:cs typeface="微软雅黑"/>
              </a:rPr>
              <a:t>建立整体与细血管指标，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DBE3E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DBE3EE"/>
                </a:solidFill>
                <a:latin typeface="微软雅黑"/>
                <a:ea typeface="微软雅黑"/>
                <a:cs typeface="微软雅黑"/>
              </a:rPr>
              <a:t>发现糖网病组召回偏低。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854C992-8919-4E6D-B58E-B2E40830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680" y="1417320"/>
            <a:ext cx="2613584" cy="1828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F31A63-BDDC-4D2F-BF86-7978883E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60" y="1545336"/>
            <a:ext cx="224782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B5244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52442"/>
                </a:solidFill>
                <a:latin typeface="微软雅黑"/>
                <a:ea typeface="微软雅黑"/>
                <a:cs typeface="微软雅黑"/>
              </a:rPr>
              <a:t>待对照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3328490-0226-4C0D-B4E5-10A1724D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60" y="1801368"/>
            <a:ext cx="22478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加入已有结构监督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235B527-5FC2-4041-B8F6-2EB93948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60" y="2130552"/>
            <a:ext cx="2247824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复用 SRL 等方法，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改善细结构提取；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同步监测误检代价。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EE870CF-4436-4320-843E-F7CF94A0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432" y="1417320"/>
            <a:ext cx="2613584" cy="1828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4E516D6-2A5D-448B-9100-0D7BD8C3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9312" y="1545336"/>
            <a:ext cx="224782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B5244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52442"/>
                </a:solidFill>
                <a:latin typeface="微软雅黑"/>
                <a:ea typeface="微软雅黑"/>
                <a:cs typeface="微软雅黑"/>
              </a:rPr>
              <a:t>拟研究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9D57375-CE3F-49CF-A747-1F796E6E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9312" y="1801368"/>
            <a:ext cx="22478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病灶邻域加权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CA44F79-3186-47DC-B2FC-B2FEACC4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9312" y="2130552"/>
            <a:ext cx="2247824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先检查局部误差差异。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如果存在，再提高邻域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血管监督的权重。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BFF2770-939B-457E-BF37-02CC04E2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183" y="1417320"/>
            <a:ext cx="2613584" cy="1828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DD4FA97-2729-42AF-BB51-054646E5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063" y="1545336"/>
            <a:ext cx="224782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B52442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52442"/>
                </a:solidFill>
                <a:latin typeface="微软雅黑"/>
                <a:ea typeface="微软雅黑"/>
                <a:cs typeface="微软雅黑"/>
              </a:rPr>
              <a:t>待验证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CE5FFDD-C17E-4CAE-AC57-6919007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063" y="1801368"/>
            <a:ext cx="22478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外部数据检验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0786EE7-3C56-4B56-806D-BD480B16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063" y="2130552"/>
            <a:ext cx="2247824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保留 MAPLES 测试集，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再用新的数据集检查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收益能否保持。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DE24C33-A2F1-4AD3-84F8-F8627E0E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66160"/>
            <a:ext cx="5368900" cy="192024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68E0677-D68E-43BB-8005-6503D29E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870198"/>
            <a:ext cx="491166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核心对照：仅改变局部权重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31EEB48-E5F2-45FB-BF64-7551C5F1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25696"/>
            <a:ext cx="4911700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两组均用相同结构基线、MAPLES 训练数据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及 FIVES 回放，并配对训练预算。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唯一差别：均匀权重 vs 病灶邻域加权。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23CA5A2-430A-44EC-BD42-28FDEFEB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5868" y="3566160"/>
            <a:ext cx="5368900" cy="192024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95AAB54-FA6A-413A-B64C-D25E30C6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574" y="3870198"/>
            <a:ext cx="491166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局部改善，也要检查整体代价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652D06F-BD3C-474F-AEF1-EC7BB66A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612" y="4425696"/>
            <a:ext cx="4911700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局部召回 + 假阳性 + 密度误差。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整体 Dice、细血管召回及其他数据集上的表现。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按图像配对比较；无额外收益也如实报告。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15A0B6-1D5E-4C51-9B68-DFD59EC7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rPr>
              <a:t>计划方案 · 病灶标签不改变人工血管标注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81758D-5ABC-4E55-812B-A00C9854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rP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4061949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51CAB98-9E59-466B-A4DD-7947B1A0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外部数据的分工与当前状态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85582E5-4E86-4331-B290-9E4CF2A3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MAPLES 补充病灶标注，其他数据集用来检查效果是否稳定</a:t>
            </a:r>
          </a:p>
        </p:txBody>
      </p:sp>
      <p:graphicFrame>
        <p:nvGraphicFramePr>
          <p:cNvPr id="28" name="Table 0"/>
          <p:cNvGraphicFramePr/>
          <p:nvPr/>
        </p:nvGraphicFramePr>
        <p:xfrm>
          <a:off xmlns:a="http://schemas.openxmlformats.org/drawingml/2006/main" x="566928" y="1371600"/>
          <a:ext xmlns:a="http://schemas.openxmlformats.org/drawingml/2006/main" cx="6766560" cy="21031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00175"/>
                <a:gridCol w="1524000"/>
                <a:gridCol w="1943100"/>
                <a:gridCol w="1895475"/>
              </a:tblGrid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数据集</a:t>
                      </a:r>
                      <a:endParaRPr sz="11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47625" marR="47625" marT="19050" marB="19050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102F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规模／划分</a:t>
                      </a:r>
                      <a:endParaRPr sz="11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47625" marR="47625" marT="19050" marB="19050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102F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标注与场景</a:t>
                      </a:r>
                      <a:endParaRPr sz="11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47625" marR="47625" marT="19050" marB="19050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102F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当前角色</a:t>
                      </a:r>
                      <a:endParaRPr sz="11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47625" marR="47625" marT="19050" marB="19050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102F5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FIVES [1]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47625" marR="47625" marT="19050" marB="19050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800 张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600／200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47625" marR="47625" marT="19050" marB="19050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血管＋疾病标签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多种眼底状态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47625" marR="47625" marT="19050" marB="19050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M0 已完成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后续保留回放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47625" marR="47625" marT="19050" marB="19050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MAPLES [5]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47625" marR="47625" marT="19050" marB="19050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198 张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138／60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47625" marR="47625" marT="19050" marB="19050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同图血管＋病灶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MESSIDOR 来源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47625" marR="47625" marT="19050" marB="19050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拟训练／分区域评价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需完成数据配对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47625" marR="47625" marT="19050" marB="19050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DRIVE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47625" marR="47625" marT="19050" marB="19050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 张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20／20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47625" marR="47625" marT="19050" marB="19050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血管分割基准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糖网病筛查来源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47625" marR="47625" marT="19050" marB="19050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候选测试集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核对官方评价入口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47625" marR="47625" marT="19050" marB="19050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CHASE_DB1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47625" marR="47625" marT="19050" marB="19050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28 张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 名儿童双眼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47625" marR="47625" marT="19050" marB="19050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血管标注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儿童眼底场景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47625" marR="47625" marT="19050" marB="19050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候选测试集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indent="0">
                        <a:buNone/>
                      </a:pPr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不能代替 DR 验证</a:t>
                      </a:r>
                      <a:endParaRPr sz="1050"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47625" marR="47625" marT="19050" marB="19050" anchor="ctr">
                    <a:lnL w="9525" cmpd="sng">
                      <a:solidFill>
                        <a:srgbClr val="D8E0EC"/>
                      </a:solidFill>
                      <a:prstDash val="solid"/>
                    </a:lnL>
                    <a:lnR w="9525" cmpd="sng">
                      <a:solidFill>
                        <a:srgbClr val="D8E0EC"/>
                      </a:solidFill>
                      <a:prstDash val="solid"/>
                    </a:lnR>
                    <a:lnT w="9525" cmpd="sng">
                      <a:solidFill>
                        <a:srgbClr val="D8E0EC"/>
                      </a:solidFill>
                      <a:prstDash val="solid"/>
                    </a:lnT>
                    <a:lnB w="9525" cmpd="sng">
                      <a:solidFill>
                        <a:srgbClr val="D8E0EC"/>
                      </a:solidFill>
                      <a:prstDash val="soli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97B5981-F772-4B9C-A918-0EC9A094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1371600"/>
            <a:ext cx="4016959" cy="196596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B0E9F5D-5F2C-409C-96C9-AE4BAE41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1847088"/>
            <a:ext cx="355975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保留官方训练／测试划分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1680B46-201D-4758-B7EB-969CB5EB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2231136"/>
            <a:ext cx="3559759" cy="923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138 张用于训练，可再留一部分调参。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60 张测试图像保持独立。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因为用过该数据集训练，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还要到其他数据集检查效果。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2AC62D0-272F-4C7B-A72D-AFF08DE5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3520440"/>
            <a:ext cx="4016959" cy="196596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39968A3-4EDB-4393-B260-CFC09649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3995928"/>
            <a:ext cx="355975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DRIVE 或 CHASE 仅用于评价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F873FE2-E353-4752-955A-E50B93BF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4379976"/>
            <a:ext cx="3559759" cy="923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这些图像只用于测试。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先核对标注与评价协议，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固定方法后再评价效果。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换数据后有效，仍需进一步临床验证。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B83C0A2-7C22-49A0-9C35-2F0F09D8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0440"/>
            <a:ext cx="6766560" cy="196596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EDF1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5B7B03A-FF99-4E44-9EB2-308983B8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995928"/>
            <a:ext cx="6309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文件已下载，原图与标注仍需核对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8A1A3D29-21F9-456D-AD67-C5D2BB3B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379976"/>
            <a:ext cx="6309360" cy="923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已核验 2 个标注包及 12 个原图包的完整性。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下一步：完成 198 张图像与标注配对，核对重复图像及划分。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925F03-610A-43CC-A2AA-754ED266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rPr>
              <a:t>数据：[1,5]及官方说明 · 下载不等于完成训练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D12895-B7C7-45C0-AE54-BC22762C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7719371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DDE378-93B0-45A7-AB01-73615C1E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怎样验证改进是否有效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4D00DB6-3CB6-42D2-9289-72AF96B6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先确定方案，再在保留数据上进行配对比较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851A7-1779-427E-B65A-F189226A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52575"/>
            <a:ext cx="3429000" cy="2276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DB193-81DC-4702-A33D-3D218F1B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开发阶段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4D55C-8E3F-4C78-ACEB-DA402C32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30099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核对原图、标注与重复图像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规定病灶邻域与阈值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检查质量因素和局部差异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A67972-4D43-4E71-8461-254325A3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5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F4CDD-D54A-40BD-9548-DD1EEF83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76700"/>
            <a:ext cx="3133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用于确定方案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6CA5D7-CAD9-474E-A07D-212211F3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52575"/>
            <a:ext cx="3429000" cy="2276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2752B-45F3-4D07-AB21-D547A30A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430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MAPLES 保留测试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28B60D-0DFE-4FBD-B360-CC2FC2D7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30099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比较同数据下两组模型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报告局部和整体变化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不再用结果调整方案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9459C8-6BCA-471D-84C2-EEBDBAEA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433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5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697714-19E7-4AF1-B575-FD4BDB45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076700"/>
            <a:ext cx="3133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回答病灶引导是否有效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5B6805-561E-472E-968B-D95DDACA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52575"/>
            <a:ext cx="3429000" cy="2276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44BB51-B806-416F-8492-EE1BE813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430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新的测试数据集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97ECE9-F150-47A7-9D5F-4284106C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30099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DRIVE 或 CHASE 候选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不参与训练或参数选择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检查收益及误检是否稳定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8A0BCF-A3C7-4C3F-87AF-D4B1376F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433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5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B78E7A-C9CE-4B6A-9695-3F57E5A5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076700"/>
            <a:ext cx="3133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回答换数据能否保持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9E5ED2-E87C-449F-890E-B41C6398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110490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3CA5B5-6290-4B55-837E-2BCF6508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81575"/>
            <a:ext cx="10563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比较同一批图像，说明改善和不足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AD90EA-B6B9-4F9A-9E9A-35660FEC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10563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逐图比较并给出区间估计；如果病灶加权没有额外收益，或其他数据集上的表现下降，同样如实报告。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0A6356-938B-4BD6-B910-9A4F6340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rPr>
              <a:t>计划方案 · 外部数据不参与调参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E980B-454E-4B4B-B414-60801B51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12873668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95A278A-8C74-4F82-AF7D-0F4A3C39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102F59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02F59"/>
                </a:solidFill>
                <a:latin typeface="微软雅黑"/>
                <a:ea typeface="微软雅黑"/>
                <a:cs typeface="微软雅黑"/>
              </a:rPr>
              <a:t>参考文献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D3689E2-69C8-4510-9ED4-6DF20F66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25E6F"/>
                </a:solidFill>
                <a:latin typeface="微软雅黑"/>
                <a:ea typeface="微软雅黑"/>
                <a:cs typeface="微软雅黑"/>
              </a:rPr>
              <a:t>正文引用的 9 项代表性文献；完整链接见备注及讲稿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371600"/>
          <a:ext xmlns:a="http://schemas.openxmlformats.org/drawingml/2006/main" cx="11049000" cy="4533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"/>
                <a:gridCol w="8096250"/>
                <a:gridCol w="2362200"/>
              </a:tblGrid>
              <a:tr h="3333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marL="91440" marR="91440" marT="45720" marB="45720">
                    <a:solidFill>
                      <a:srgbClr val="102F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文献信息</a:t>
                      </a:r>
                    </a:p>
                  </a:txBody>
                  <a:tcPr marL="91440" marR="91440" marT="45720" marB="45720">
                    <a:solidFill>
                      <a:srgbClr val="102F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在本汇报中的用途</a:t>
                      </a:r>
                    </a:p>
                  </a:txBody>
                  <a:tcPr marL="91440" marR="91440" marT="45720" marB="45720">
                    <a:solidFill>
                      <a:srgbClr val="102F59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Jin K, et al. FIVES: A Fundus Image Dataset for Artificial Intelligence based Vessel</a:t>
                      </a:r>
                    </a:p>
                    <a:p>
                      <a:r>
                        <a:rPr sz="112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Segmentation. Scientific Data, 2022, 9:475.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基础训练数据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[2]</a:t>
                      </a:r>
                    </a:p>
                  </a:txBody>
                  <a:tcPr marL="91440" marR="91440" marT="45720" marB="4572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Fadugba J, et al. Benchmarking Retinal Blood Vessel Segmentation Models for</a:t>
                      </a:r>
                    </a:p>
                    <a:p>
                      <a:r>
                        <a:rPr sz="112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Cross-Dataset and Cross-Disease Generalization. arXiv:2406.14994, 2024.</a:t>
                      </a:r>
                    </a:p>
                  </a:txBody>
                  <a:tcPr marL="91440" marR="91440" marT="45720" marB="4572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跨疾病与质量因素</a:t>
                      </a:r>
                    </a:p>
                  </a:txBody>
                  <a:tcPr marL="91440" marR="91440" marT="45720" marB="45720">
                    <a:solidFill>
                      <a:srgbClr val="F3F5F9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Kirchhoff Y, et al. Skeleton Recall Loss for Connectivity Conserving and Resource</a:t>
                      </a:r>
                    </a:p>
                    <a:p>
                      <a:r>
                        <a:rPr sz="112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Efficient Segmentation of Thin Tubular Structures. ECCV, 2024.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细结构监督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[4]</a:t>
                      </a:r>
                    </a:p>
                  </a:txBody>
                  <a:tcPr marL="91440" marR="91440" marT="45720" marB="4572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Zhou Y, et al. CF-Loss: Clinically-relevant feature optimised loss function for retinal</a:t>
                      </a:r>
                    </a:p>
                    <a:p>
                      <a:r>
                        <a:rPr sz="112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multi-class vessel segmentation and vascular feature measurement. MedIA, 2024, 93:103098.</a:t>
                      </a:r>
                    </a:p>
                  </a:txBody>
                  <a:tcPr marL="91440" marR="91440" marT="45720" marB="4572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像素表现与形态保真</a:t>
                      </a:r>
                    </a:p>
                  </a:txBody>
                  <a:tcPr marL="91440" marR="91440" marT="45720" marB="45720">
                    <a:solidFill>
                      <a:srgbClr val="F3F5F9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[5]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Lepetit-Aimon G, et al. MAPLES-DR: MESSIDOR Anatomical and Pathological Labels for</a:t>
                      </a:r>
                    </a:p>
                    <a:p>
                      <a:r>
                        <a:rPr sz="112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Explainable Screening of Diabetic Retinopathy. Scientific Data, 2024, 11:914.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同图病灶与血管数据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[6]</a:t>
                      </a:r>
                    </a:p>
                  </a:txBody>
                  <a:tcPr marL="91440" marR="91440" marT="45720" marB="4572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Lyu X, Cheng L, Zhang S. The RETA Benchmark for Retinal Vascular Tree Analysis.</a:t>
                      </a:r>
                    </a:p>
                    <a:p>
                      <a:r>
                        <a:rPr sz="112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Scientific Data, 2022, 9:397.</a:t>
                      </a:r>
                    </a:p>
                  </a:txBody>
                  <a:tcPr marL="91440" marR="91440" marT="45720" marB="4572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跨域与质量检查</a:t>
                      </a:r>
                    </a:p>
                  </a:txBody>
                  <a:tcPr marL="91440" marR="91440" marT="45720" marB="45720">
                    <a:solidFill>
                      <a:srgbClr val="F3F5F9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[7]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Zhou Y, et al. AutoMorph: Automated Retinal Vascular Morphology Quantification Via</a:t>
                      </a:r>
                    </a:p>
                    <a:p>
                      <a:r>
                        <a:rPr sz="112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Deep Learning Pipeline. TVST, 2022, 11(7):12.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自动形态量化流程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[8]</a:t>
                      </a:r>
                    </a:p>
                  </a:txBody>
                  <a:tcPr marL="91440" marR="91440" marT="45720" marB="4572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Deep learning-derived retinal vascular morphology and incident treatment for</a:t>
                      </a:r>
                    </a:p>
                    <a:p>
                      <a:r>
                        <a:rPr sz="112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sight-threatening diabetic retinopathy. Ophthalmology Science, 2026, 101385. 预校样</a:t>
                      </a:r>
                    </a:p>
                  </a:txBody>
                  <a:tcPr marL="91440" marR="91440" marT="45720" marB="45720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形态与后续治疗的关联</a:t>
                      </a:r>
                    </a:p>
                  </a:txBody>
                  <a:tcPr marL="91440" marR="91440" marT="45720" marB="45720">
                    <a:solidFill>
                      <a:srgbClr val="F3F5F9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[9]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ADA Professional Practice Committee. 12. Retinopathy, Neuropathy, and Foot Care:</a:t>
                      </a:r>
                    </a:p>
                    <a:p>
                      <a:r>
                        <a:rPr sz="1125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Standards of Care in Diabetes—2026. Diabetes Care, 2026.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F5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临床筛查与诊断边界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D5E6D-65E8-49CF-9719-A32F6FC5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rPr>
              <a:t>完整文献及官方数据网址见备注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F0D7A6-FCF8-4201-97DB-17AD42E1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7B8593"/>
                </a:solidFill>
                <a:latin typeface="微软雅黑"/>
                <a:ea typeface="微软雅黑"/>
                <a:cs typeface="微软雅黑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208515895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2026-09-11T17:18:30.8190000Z</dcterms:created>
  <dcterms:modified xsi:type="dcterms:W3CDTF">2026-09-11T17:18:30.8190000Z</dcterms:modified>
</coreProperties>
</file>